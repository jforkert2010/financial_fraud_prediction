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4"/>
  </p:sldMasterIdLst>
  <p:notesMasterIdLst>
    <p:notesMasterId r:id="rId14"/>
  </p:notesMasterIdLst>
  <p:sldIdLst>
    <p:sldId id="256" r:id="rId5"/>
    <p:sldId id="275" r:id="rId6"/>
    <p:sldId id="265" r:id="rId7"/>
    <p:sldId id="267" r:id="rId8"/>
    <p:sldId id="259" r:id="rId9"/>
    <p:sldId id="261" r:id="rId10"/>
    <p:sldId id="268" r:id="rId11"/>
    <p:sldId id="273"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C78182C-35F7-49B6-9055-938B0BB53C50}">
          <p14:sldIdLst>
            <p14:sldId id="256"/>
          </p14:sldIdLst>
        </p14:section>
        <p14:section name="Introduction" id="{8D22FE18-6302-405C-9465-25574C13E4F7}">
          <p14:sldIdLst>
            <p14:sldId id="275"/>
          </p14:sldIdLst>
        </p14:section>
        <p14:section name="Data" id="{CEB66860-2E89-4332-8B60-C15180F20C67}">
          <p14:sldIdLst>
            <p14:sldId id="265"/>
            <p14:sldId id="267"/>
          </p14:sldIdLst>
        </p14:section>
        <p14:section name="Methods" id="{8827204D-84CE-4675-9873-11E0FD3F840B}">
          <p14:sldIdLst>
            <p14:sldId id="259"/>
          </p14:sldIdLst>
        </p14:section>
        <p14:section name="Results" id="{C573E482-B06A-497F-9100-4EFE85B0944F}">
          <p14:sldIdLst>
            <p14:sldId id="261"/>
          </p14:sldIdLst>
        </p14:section>
        <p14:section name="Discussion" id="{20C3E596-553B-4D97-8777-B119370390D9}">
          <p14:sldIdLst>
            <p14:sldId id="268"/>
          </p14:sldIdLst>
        </p14:section>
        <p14:section name="Limitations &amp; Future Work" id="{F7442643-488B-492B-8ABA-167F1FDC1DEF}">
          <p14:sldIdLst>
            <p14:sldId id="273"/>
            <p14:sldId id="2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C5EA3D-7303-49B6-FD78-B454B9A941BD}" name="Samuel E Remp" initials="SR" userId="S::seremp@syr.edu::8c3b94c4-b8d0-4926-a5fa-a91aa6b3031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F9D95-2718-0611-56B0-6B684D241F6C}" v="14" dt="2024-12-11T03:11:17.381"/>
    <p1510:client id="{6784160A-1695-4348-B3DA-F9D1848E35F4}" v="477" dt="2024-12-11T23:21:32.331"/>
    <p1510:client id="{74D64E85-4F4D-4263-9218-4CD1A317E051}" v="390" dt="2024-12-11T14:57:44.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245" autoAdjust="0"/>
  </p:normalViewPr>
  <p:slideViewPr>
    <p:cSldViewPr snapToGrid="0">
      <p:cViewPr varScale="1">
        <p:scale>
          <a:sx n="63" d="100"/>
          <a:sy n="63" d="100"/>
        </p:scale>
        <p:origin x="141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27F38B-ADF3-4BDD-9639-ECBC9830EC0D}"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18AB27D-A6B9-4379-948D-B985B5F9B120}">
      <dgm:prSet custT="1"/>
      <dgm:spPr/>
      <dgm:t>
        <a:bodyPr/>
        <a:lstStyle/>
        <a:p>
          <a:pPr>
            <a:lnSpc>
              <a:spcPct val="100000"/>
            </a:lnSpc>
            <a:defRPr b="1"/>
          </a:pPr>
          <a:r>
            <a:rPr lang="en-US" sz="1800" b="1"/>
            <a:t>Source</a:t>
          </a:r>
          <a:r>
            <a:rPr lang="en-US" sz="1800"/>
            <a:t>: </a:t>
          </a:r>
        </a:p>
        <a:p>
          <a:pPr>
            <a:lnSpc>
              <a:spcPct val="100000"/>
            </a:lnSpc>
            <a:defRPr b="1"/>
          </a:pPr>
          <a:r>
            <a:rPr lang="en-US" sz="1800" b="0"/>
            <a:t>Kaggle PaySim1 Dataset</a:t>
          </a:r>
        </a:p>
      </dgm:t>
    </dgm:pt>
    <dgm:pt modelId="{044CE489-E2F7-4B9D-95B1-428DCCE2C8D6}" type="parTrans" cxnId="{A8F4130D-99A7-4782-9DA8-F1114E746B75}">
      <dgm:prSet/>
      <dgm:spPr/>
      <dgm:t>
        <a:bodyPr/>
        <a:lstStyle/>
        <a:p>
          <a:endParaRPr lang="en-US"/>
        </a:p>
      </dgm:t>
    </dgm:pt>
    <dgm:pt modelId="{7EC1D25D-4807-42FD-A86A-DC7359B4676B}" type="sibTrans" cxnId="{A8F4130D-99A7-4782-9DA8-F1114E746B75}">
      <dgm:prSet/>
      <dgm:spPr/>
      <dgm:t>
        <a:bodyPr/>
        <a:lstStyle/>
        <a:p>
          <a:endParaRPr lang="en-US"/>
        </a:p>
      </dgm:t>
    </dgm:pt>
    <dgm:pt modelId="{8913E929-05F5-487C-BC4C-843281D4760E}">
      <dgm:prSet custT="1"/>
      <dgm:spPr/>
      <dgm:t>
        <a:bodyPr/>
        <a:lstStyle/>
        <a:p>
          <a:pPr>
            <a:lnSpc>
              <a:spcPct val="100000"/>
            </a:lnSpc>
            <a:defRPr b="1"/>
          </a:pPr>
          <a:r>
            <a:rPr lang="en-US" sz="1800" b="1"/>
            <a:t>Content</a:t>
          </a:r>
          <a:r>
            <a:rPr lang="en-US" sz="1800"/>
            <a:t>: </a:t>
          </a:r>
        </a:p>
        <a:p>
          <a:pPr>
            <a:lnSpc>
              <a:spcPct val="100000"/>
            </a:lnSpc>
            <a:defRPr b="1"/>
          </a:pPr>
          <a:r>
            <a:rPr lang="en-US" sz="1800" b="0"/>
            <a:t>1M synthetic financial transactions with 11 features (e.g., amount, location, type)</a:t>
          </a:r>
        </a:p>
      </dgm:t>
    </dgm:pt>
    <dgm:pt modelId="{1C47B6C2-F443-402C-9738-14C3C98AB13B}" type="parTrans" cxnId="{EC9DAA4C-010B-4356-BBA2-DF3091EA3624}">
      <dgm:prSet/>
      <dgm:spPr/>
      <dgm:t>
        <a:bodyPr/>
        <a:lstStyle/>
        <a:p>
          <a:endParaRPr lang="en-US"/>
        </a:p>
      </dgm:t>
    </dgm:pt>
    <dgm:pt modelId="{6852E00A-4CA8-40C9-97AB-36C8A65254D9}" type="sibTrans" cxnId="{EC9DAA4C-010B-4356-BBA2-DF3091EA3624}">
      <dgm:prSet/>
      <dgm:spPr/>
      <dgm:t>
        <a:bodyPr/>
        <a:lstStyle/>
        <a:p>
          <a:endParaRPr lang="en-US"/>
        </a:p>
      </dgm:t>
    </dgm:pt>
    <dgm:pt modelId="{C349D4CC-6F7C-42D9-870C-017EE059B063}">
      <dgm:prSet custT="1"/>
      <dgm:spPr/>
      <dgm:t>
        <a:bodyPr/>
        <a:lstStyle/>
        <a:p>
          <a:pPr>
            <a:lnSpc>
              <a:spcPct val="100000"/>
            </a:lnSpc>
            <a:defRPr b="1"/>
          </a:pPr>
          <a:r>
            <a:rPr lang="en-US" sz="1800" b="1"/>
            <a:t>Purpose</a:t>
          </a:r>
          <a:r>
            <a:rPr lang="en-US" sz="1800"/>
            <a:t>: </a:t>
          </a:r>
        </a:p>
        <a:p>
          <a:pPr>
            <a:lnSpc>
              <a:spcPct val="100000"/>
            </a:lnSpc>
            <a:defRPr b="1"/>
          </a:pPr>
          <a:r>
            <a:rPr lang="en-US" sz="1800" b="0"/>
            <a:t>Fraud detection research using simulated real-world financial data</a:t>
          </a:r>
        </a:p>
      </dgm:t>
    </dgm:pt>
    <dgm:pt modelId="{0FFF9D1B-6516-4875-8F44-7624550F9AF6}" type="parTrans" cxnId="{6D73FDD9-72BD-4AA8-8D2D-1363FA20BC99}">
      <dgm:prSet/>
      <dgm:spPr/>
      <dgm:t>
        <a:bodyPr/>
        <a:lstStyle/>
        <a:p>
          <a:endParaRPr lang="en-US"/>
        </a:p>
      </dgm:t>
    </dgm:pt>
    <dgm:pt modelId="{EB3A5395-7EF9-46EF-93B2-0F537F499B99}" type="sibTrans" cxnId="{6D73FDD9-72BD-4AA8-8D2D-1363FA20BC99}">
      <dgm:prSet/>
      <dgm:spPr/>
      <dgm:t>
        <a:bodyPr/>
        <a:lstStyle/>
        <a:p>
          <a:endParaRPr lang="en-US"/>
        </a:p>
      </dgm:t>
    </dgm:pt>
    <dgm:pt modelId="{F1676637-1D8B-4AC4-844D-FACAE477BE3A}">
      <dgm:prSet custT="1"/>
      <dgm:spPr/>
      <dgm:t>
        <a:bodyPr/>
        <a:lstStyle/>
        <a:p>
          <a:pPr>
            <a:lnSpc>
              <a:spcPct val="100000"/>
            </a:lnSpc>
            <a:defRPr b="1"/>
          </a:pPr>
          <a:r>
            <a:rPr lang="en-US" sz="1800" b="1"/>
            <a:t>Origins</a:t>
          </a:r>
          <a:r>
            <a:rPr lang="en-US" sz="1800"/>
            <a:t>: </a:t>
          </a:r>
        </a:p>
        <a:p>
          <a:pPr>
            <a:lnSpc>
              <a:spcPct val="100000"/>
            </a:lnSpc>
            <a:defRPr b="1"/>
          </a:pPr>
          <a:r>
            <a:rPr lang="en-US" sz="1800" b="0"/>
            <a:t>Created via </a:t>
          </a:r>
          <a:r>
            <a:rPr lang="en-US" sz="1800" b="0" err="1"/>
            <a:t>PaySim</a:t>
          </a:r>
          <a:r>
            <a:rPr lang="en-US" sz="1800" b="0"/>
            <a:t>, funded by Sweden’s Knowledge Foundation (Grant: 20140032)</a:t>
          </a:r>
        </a:p>
      </dgm:t>
    </dgm:pt>
    <dgm:pt modelId="{3B1F10F7-EBA5-42D8-A9CA-C995624F687D}" type="parTrans" cxnId="{8C05158C-07C2-4430-98CF-1F3763E671E3}">
      <dgm:prSet/>
      <dgm:spPr/>
      <dgm:t>
        <a:bodyPr/>
        <a:lstStyle/>
        <a:p>
          <a:endParaRPr lang="en-US"/>
        </a:p>
      </dgm:t>
    </dgm:pt>
    <dgm:pt modelId="{EEB86102-0021-46D9-B675-23C8572087D3}" type="sibTrans" cxnId="{8C05158C-07C2-4430-98CF-1F3763E671E3}">
      <dgm:prSet/>
      <dgm:spPr/>
      <dgm:t>
        <a:bodyPr/>
        <a:lstStyle/>
        <a:p>
          <a:endParaRPr lang="en-US"/>
        </a:p>
      </dgm:t>
    </dgm:pt>
    <dgm:pt modelId="{A40849BF-F526-4A84-A5D9-80F6D6BF25A4}">
      <dgm:prSet custT="1"/>
      <dgm:spPr/>
      <dgm:t>
        <a:bodyPr/>
        <a:lstStyle/>
        <a:p>
          <a:pPr rtl="0">
            <a:lnSpc>
              <a:spcPct val="100000"/>
            </a:lnSpc>
            <a:defRPr b="1"/>
          </a:pPr>
          <a:r>
            <a:rPr lang="en-US" sz="1800" b="1"/>
            <a:t>Advantages</a:t>
          </a:r>
          <a:r>
            <a:rPr lang="en-US" sz="1800"/>
            <a:t>:</a:t>
          </a:r>
          <a:r>
            <a:rPr lang="en-US" sz="1800">
              <a:latin typeface="Avenir Next LT Pro Light"/>
            </a:rPr>
            <a:t> </a:t>
          </a:r>
          <a:r>
            <a:rPr lang="en-US" sz="1800" b="0"/>
            <a:t>Designed to mimic real-world </a:t>
          </a:r>
          <a:r>
            <a:rPr lang="en-US" sz="1800" b="0">
              <a:latin typeface="Avenir Next LT Pro Light"/>
            </a:rPr>
            <a:t>scenarios. Widely</a:t>
          </a:r>
          <a:r>
            <a:rPr lang="en-US" sz="1800" b="0"/>
            <a:t> used in academic fraud detection studies</a:t>
          </a:r>
          <a:r>
            <a:rPr lang="en-US" sz="1800">
              <a:latin typeface="Avenir Next LT Pro Light"/>
            </a:rPr>
            <a:t>.</a:t>
          </a:r>
          <a:endParaRPr lang="en-US" sz="1800"/>
        </a:p>
      </dgm:t>
    </dgm:pt>
    <dgm:pt modelId="{47B6F084-81A2-4CCA-A19F-FF8B0D9C8ACA}" type="parTrans" cxnId="{BCB16AF8-208F-4E5C-8812-459E30A9288E}">
      <dgm:prSet/>
      <dgm:spPr/>
      <dgm:t>
        <a:bodyPr/>
        <a:lstStyle/>
        <a:p>
          <a:endParaRPr lang="en-US"/>
        </a:p>
      </dgm:t>
    </dgm:pt>
    <dgm:pt modelId="{9CE84C7E-B7BC-4CCA-99B5-8F6ACB944ABB}" type="sibTrans" cxnId="{BCB16AF8-208F-4E5C-8812-459E30A9288E}">
      <dgm:prSet/>
      <dgm:spPr/>
      <dgm:t>
        <a:bodyPr/>
        <a:lstStyle/>
        <a:p>
          <a:endParaRPr lang="en-US"/>
        </a:p>
      </dgm:t>
    </dgm:pt>
    <dgm:pt modelId="{EAE58795-2C0C-437D-A019-99ABEB6BDB85}" type="pres">
      <dgm:prSet presAssocID="{2627F38B-ADF3-4BDD-9639-ECBC9830EC0D}" presName="root" presStyleCnt="0">
        <dgm:presLayoutVars>
          <dgm:dir/>
          <dgm:resizeHandles val="exact"/>
        </dgm:presLayoutVars>
      </dgm:prSet>
      <dgm:spPr/>
    </dgm:pt>
    <dgm:pt modelId="{72BE3537-C823-4554-A163-FEB1BFAC9AD2}" type="pres">
      <dgm:prSet presAssocID="{A18AB27D-A6B9-4379-948D-B985B5F9B120}" presName="compNode" presStyleCnt="0"/>
      <dgm:spPr/>
    </dgm:pt>
    <dgm:pt modelId="{B2F445AA-7D78-4306-A822-F57877DE3EFD}" type="pres">
      <dgm:prSet presAssocID="{A18AB27D-A6B9-4379-948D-B985B5F9B12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6666132-9E2E-4718-A843-19995B5F668F}" type="pres">
      <dgm:prSet presAssocID="{A18AB27D-A6B9-4379-948D-B985B5F9B120}" presName="iconSpace" presStyleCnt="0"/>
      <dgm:spPr/>
    </dgm:pt>
    <dgm:pt modelId="{9BAE7794-85F1-428F-BC40-C760FBDF0204}" type="pres">
      <dgm:prSet presAssocID="{A18AB27D-A6B9-4379-948D-B985B5F9B120}" presName="parTx" presStyleLbl="revTx" presStyleIdx="0" presStyleCnt="10">
        <dgm:presLayoutVars>
          <dgm:chMax val="0"/>
          <dgm:chPref val="0"/>
        </dgm:presLayoutVars>
      </dgm:prSet>
      <dgm:spPr/>
    </dgm:pt>
    <dgm:pt modelId="{895ADC9D-D11E-4D63-A8C5-24D6EDA0DCCB}" type="pres">
      <dgm:prSet presAssocID="{A18AB27D-A6B9-4379-948D-B985B5F9B120}" presName="txSpace" presStyleCnt="0"/>
      <dgm:spPr/>
    </dgm:pt>
    <dgm:pt modelId="{E9D33593-29DB-4ABA-AA4A-031404C05B31}" type="pres">
      <dgm:prSet presAssocID="{A18AB27D-A6B9-4379-948D-B985B5F9B120}" presName="desTx" presStyleLbl="revTx" presStyleIdx="1" presStyleCnt="10">
        <dgm:presLayoutVars/>
      </dgm:prSet>
      <dgm:spPr/>
    </dgm:pt>
    <dgm:pt modelId="{28C040F2-81F0-49C7-A801-1481A823BC71}" type="pres">
      <dgm:prSet presAssocID="{7EC1D25D-4807-42FD-A86A-DC7359B4676B}" presName="sibTrans" presStyleCnt="0"/>
      <dgm:spPr/>
    </dgm:pt>
    <dgm:pt modelId="{B4762500-EA64-4ED1-9980-C431006C84E5}" type="pres">
      <dgm:prSet presAssocID="{8913E929-05F5-487C-BC4C-843281D4760E}" presName="compNode" presStyleCnt="0"/>
      <dgm:spPr/>
    </dgm:pt>
    <dgm:pt modelId="{AC5A5715-D281-4BBA-9D6A-3A35C472BF3F}" type="pres">
      <dgm:prSet presAssocID="{8913E929-05F5-487C-BC4C-843281D4760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lue"/>
        </a:ext>
      </dgm:extLst>
    </dgm:pt>
    <dgm:pt modelId="{483B3112-BA6B-41B7-BA5E-7D346CC1A8E0}" type="pres">
      <dgm:prSet presAssocID="{8913E929-05F5-487C-BC4C-843281D4760E}" presName="iconSpace" presStyleCnt="0"/>
      <dgm:spPr/>
    </dgm:pt>
    <dgm:pt modelId="{B3B8703A-33DA-4777-AC9D-33E79D9BB7DD}" type="pres">
      <dgm:prSet presAssocID="{8913E929-05F5-487C-BC4C-843281D4760E}" presName="parTx" presStyleLbl="revTx" presStyleIdx="2" presStyleCnt="10" custScaleX="107691">
        <dgm:presLayoutVars>
          <dgm:chMax val="0"/>
          <dgm:chPref val="0"/>
        </dgm:presLayoutVars>
      </dgm:prSet>
      <dgm:spPr/>
    </dgm:pt>
    <dgm:pt modelId="{96C69B16-1B30-4331-96C3-7BBA335B670A}" type="pres">
      <dgm:prSet presAssocID="{8913E929-05F5-487C-BC4C-843281D4760E}" presName="txSpace" presStyleCnt="0"/>
      <dgm:spPr/>
    </dgm:pt>
    <dgm:pt modelId="{399C43A8-12B6-4D8D-9DE1-A1F3CFD6D0E5}" type="pres">
      <dgm:prSet presAssocID="{8913E929-05F5-487C-BC4C-843281D4760E}" presName="desTx" presStyleLbl="revTx" presStyleIdx="3" presStyleCnt="10">
        <dgm:presLayoutVars/>
      </dgm:prSet>
      <dgm:spPr/>
    </dgm:pt>
    <dgm:pt modelId="{7846BA79-3CBA-4EFF-AC72-1442A6F84753}" type="pres">
      <dgm:prSet presAssocID="{6852E00A-4CA8-40C9-97AB-36C8A65254D9}" presName="sibTrans" presStyleCnt="0"/>
      <dgm:spPr/>
    </dgm:pt>
    <dgm:pt modelId="{1058A84D-E015-492A-8EA8-4679920E93C1}" type="pres">
      <dgm:prSet presAssocID="{C349D4CC-6F7C-42D9-870C-017EE059B063}" presName="compNode" presStyleCnt="0"/>
      <dgm:spPr/>
    </dgm:pt>
    <dgm:pt modelId="{A78353DF-8860-4E1B-8341-6EABA650FFEE}" type="pres">
      <dgm:prSet presAssocID="{C349D4CC-6F7C-42D9-870C-017EE059B06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ber"/>
        </a:ext>
      </dgm:extLst>
    </dgm:pt>
    <dgm:pt modelId="{83DEBFB8-B6CF-4343-9381-BAC5915B074C}" type="pres">
      <dgm:prSet presAssocID="{C349D4CC-6F7C-42D9-870C-017EE059B063}" presName="iconSpace" presStyleCnt="0"/>
      <dgm:spPr/>
    </dgm:pt>
    <dgm:pt modelId="{0BBF37A4-A718-49A4-82B9-ABE4FD3C5450}" type="pres">
      <dgm:prSet presAssocID="{C349D4CC-6F7C-42D9-870C-017EE059B063}" presName="parTx" presStyleLbl="revTx" presStyleIdx="4" presStyleCnt="10">
        <dgm:presLayoutVars>
          <dgm:chMax val="0"/>
          <dgm:chPref val="0"/>
        </dgm:presLayoutVars>
      </dgm:prSet>
      <dgm:spPr/>
    </dgm:pt>
    <dgm:pt modelId="{C0BAE6CE-9F07-4524-B9D3-61C27CE232B0}" type="pres">
      <dgm:prSet presAssocID="{C349D4CC-6F7C-42D9-870C-017EE059B063}" presName="txSpace" presStyleCnt="0"/>
      <dgm:spPr/>
    </dgm:pt>
    <dgm:pt modelId="{7834DB20-EE46-42B1-8E77-78ACD4EDF336}" type="pres">
      <dgm:prSet presAssocID="{C349D4CC-6F7C-42D9-870C-017EE059B063}" presName="desTx" presStyleLbl="revTx" presStyleIdx="5" presStyleCnt="10">
        <dgm:presLayoutVars/>
      </dgm:prSet>
      <dgm:spPr/>
    </dgm:pt>
    <dgm:pt modelId="{EBB9F3DF-09CA-488F-AC11-81FFA4046B3C}" type="pres">
      <dgm:prSet presAssocID="{EB3A5395-7EF9-46EF-93B2-0F537F499B99}" presName="sibTrans" presStyleCnt="0"/>
      <dgm:spPr/>
    </dgm:pt>
    <dgm:pt modelId="{2E555AC6-4E72-49EF-90EF-9519696C0702}" type="pres">
      <dgm:prSet presAssocID="{F1676637-1D8B-4AC4-844D-FACAE477BE3A}" presName="compNode" presStyleCnt="0"/>
      <dgm:spPr/>
    </dgm:pt>
    <dgm:pt modelId="{22EDB897-057D-4943-9C0C-D817227AD93E}" type="pres">
      <dgm:prSet presAssocID="{F1676637-1D8B-4AC4-844D-FACAE477BE3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529C62E7-50AF-48D5-9561-A6375B158BAB}" type="pres">
      <dgm:prSet presAssocID="{F1676637-1D8B-4AC4-844D-FACAE477BE3A}" presName="iconSpace" presStyleCnt="0"/>
      <dgm:spPr/>
    </dgm:pt>
    <dgm:pt modelId="{A282A0F9-2926-4B34-889E-AAB50D67200C}" type="pres">
      <dgm:prSet presAssocID="{F1676637-1D8B-4AC4-844D-FACAE477BE3A}" presName="parTx" presStyleLbl="revTx" presStyleIdx="6" presStyleCnt="10" custScaleX="120269">
        <dgm:presLayoutVars>
          <dgm:chMax val="0"/>
          <dgm:chPref val="0"/>
        </dgm:presLayoutVars>
      </dgm:prSet>
      <dgm:spPr/>
    </dgm:pt>
    <dgm:pt modelId="{5978221C-41E0-4552-99D6-DB07731BF89F}" type="pres">
      <dgm:prSet presAssocID="{F1676637-1D8B-4AC4-844D-FACAE477BE3A}" presName="txSpace" presStyleCnt="0"/>
      <dgm:spPr/>
    </dgm:pt>
    <dgm:pt modelId="{8E28CCBE-C9B7-46F3-9D50-81C73F81D3E0}" type="pres">
      <dgm:prSet presAssocID="{F1676637-1D8B-4AC4-844D-FACAE477BE3A}" presName="desTx" presStyleLbl="revTx" presStyleIdx="7" presStyleCnt="10">
        <dgm:presLayoutVars/>
      </dgm:prSet>
      <dgm:spPr/>
    </dgm:pt>
    <dgm:pt modelId="{D7A1DE21-0BA9-4C1E-AABC-F5DB7566B18E}" type="pres">
      <dgm:prSet presAssocID="{EEB86102-0021-46D9-B675-23C8572087D3}" presName="sibTrans" presStyleCnt="0"/>
      <dgm:spPr/>
    </dgm:pt>
    <dgm:pt modelId="{64AD22C3-DF86-47F9-B784-6EE0156C3CB8}" type="pres">
      <dgm:prSet presAssocID="{A40849BF-F526-4A84-A5D9-80F6D6BF25A4}" presName="compNode" presStyleCnt="0"/>
      <dgm:spPr/>
    </dgm:pt>
    <dgm:pt modelId="{A8536418-F9A2-4BF6-B634-644CED530FB2}" type="pres">
      <dgm:prSet presAssocID="{A40849BF-F526-4A84-A5D9-80F6D6BF25A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EAAD98DC-1280-46D1-AB40-079548B5DF05}" type="pres">
      <dgm:prSet presAssocID="{A40849BF-F526-4A84-A5D9-80F6D6BF25A4}" presName="iconSpace" presStyleCnt="0"/>
      <dgm:spPr/>
    </dgm:pt>
    <dgm:pt modelId="{9F49BB02-056B-4929-9976-88D7FE5E86DD}" type="pres">
      <dgm:prSet presAssocID="{A40849BF-F526-4A84-A5D9-80F6D6BF25A4}" presName="parTx" presStyleLbl="revTx" presStyleIdx="8" presStyleCnt="10">
        <dgm:presLayoutVars>
          <dgm:chMax val="0"/>
          <dgm:chPref val="0"/>
        </dgm:presLayoutVars>
      </dgm:prSet>
      <dgm:spPr/>
    </dgm:pt>
    <dgm:pt modelId="{830F9CDD-992A-460A-8139-94A57DE7BD66}" type="pres">
      <dgm:prSet presAssocID="{A40849BF-F526-4A84-A5D9-80F6D6BF25A4}" presName="txSpace" presStyleCnt="0"/>
      <dgm:spPr/>
    </dgm:pt>
    <dgm:pt modelId="{54CA4E3F-5C6D-4C24-813C-3B997C8624EC}" type="pres">
      <dgm:prSet presAssocID="{A40849BF-F526-4A84-A5D9-80F6D6BF25A4}" presName="desTx" presStyleLbl="revTx" presStyleIdx="9" presStyleCnt="10">
        <dgm:presLayoutVars/>
      </dgm:prSet>
      <dgm:spPr/>
    </dgm:pt>
  </dgm:ptLst>
  <dgm:cxnLst>
    <dgm:cxn modelId="{A8F4130D-99A7-4782-9DA8-F1114E746B75}" srcId="{2627F38B-ADF3-4BDD-9639-ECBC9830EC0D}" destId="{A18AB27D-A6B9-4379-948D-B985B5F9B120}" srcOrd="0" destOrd="0" parTransId="{044CE489-E2F7-4B9D-95B1-428DCCE2C8D6}" sibTransId="{7EC1D25D-4807-42FD-A86A-DC7359B4676B}"/>
    <dgm:cxn modelId="{E5E6464A-CC7F-4FF6-B4B0-4C9956140E99}" type="presOf" srcId="{C349D4CC-6F7C-42D9-870C-017EE059B063}" destId="{0BBF37A4-A718-49A4-82B9-ABE4FD3C5450}" srcOrd="0" destOrd="0" presId="urn:microsoft.com/office/officeart/2018/2/layout/IconLabelDescriptionList"/>
    <dgm:cxn modelId="{EC9DAA4C-010B-4356-BBA2-DF3091EA3624}" srcId="{2627F38B-ADF3-4BDD-9639-ECBC9830EC0D}" destId="{8913E929-05F5-487C-BC4C-843281D4760E}" srcOrd="1" destOrd="0" parTransId="{1C47B6C2-F443-402C-9738-14C3C98AB13B}" sibTransId="{6852E00A-4CA8-40C9-97AB-36C8A65254D9}"/>
    <dgm:cxn modelId="{0E03A480-52DC-4CF5-AA17-847789D96331}" type="presOf" srcId="{2627F38B-ADF3-4BDD-9639-ECBC9830EC0D}" destId="{EAE58795-2C0C-437D-A019-99ABEB6BDB85}" srcOrd="0" destOrd="0" presId="urn:microsoft.com/office/officeart/2018/2/layout/IconLabelDescriptionList"/>
    <dgm:cxn modelId="{C4DDB183-BFB9-46BD-815E-39B3849D5DF5}" type="presOf" srcId="{8913E929-05F5-487C-BC4C-843281D4760E}" destId="{B3B8703A-33DA-4777-AC9D-33E79D9BB7DD}" srcOrd="0" destOrd="0" presId="urn:microsoft.com/office/officeart/2018/2/layout/IconLabelDescriptionList"/>
    <dgm:cxn modelId="{8C05158C-07C2-4430-98CF-1F3763E671E3}" srcId="{2627F38B-ADF3-4BDD-9639-ECBC9830EC0D}" destId="{F1676637-1D8B-4AC4-844D-FACAE477BE3A}" srcOrd="3" destOrd="0" parTransId="{3B1F10F7-EBA5-42D8-A9CA-C995624F687D}" sibTransId="{EEB86102-0021-46D9-B675-23C8572087D3}"/>
    <dgm:cxn modelId="{1AD69C96-B29F-46F6-A953-A83F4331E39B}" type="presOf" srcId="{A18AB27D-A6B9-4379-948D-B985B5F9B120}" destId="{9BAE7794-85F1-428F-BC40-C760FBDF0204}" srcOrd="0" destOrd="0" presId="urn:microsoft.com/office/officeart/2018/2/layout/IconLabelDescriptionList"/>
    <dgm:cxn modelId="{65FB9AAE-4B7F-4F2E-9775-4DAE82D6EE28}" type="presOf" srcId="{A40849BF-F526-4A84-A5D9-80F6D6BF25A4}" destId="{9F49BB02-056B-4929-9976-88D7FE5E86DD}" srcOrd="0" destOrd="0" presId="urn:microsoft.com/office/officeart/2018/2/layout/IconLabelDescriptionList"/>
    <dgm:cxn modelId="{3C1B74AF-1987-4C22-93B3-DFBA54A0353D}" type="presOf" srcId="{F1676637-1D8B-4AC4-844D-FACAE477BE3A}" destId="{A282A0F9-2926-4B34-889E-AAB50D67200C}" srcOrd="0" destOrd="0" presId="urn:microsoft.com/office/officeart/2018/2/layout/IconLabelDescriptionList"/>
    <dgm:cxn modelId="{6D73FDD9-72BD-4AA8-8D2D-1363FA20BC99}" srcId="{2627F38B-ADF3-4BDD-9639-ECBC9830EC0D}" destId="{C349D4CC-6F7C-42D9-870C-017EE059B063}" srcOrd="2" destOrd="0" parTransId="{0FFF9D1B-6516-4875-8F44-7624550F9AF6}" sibTransId="{EB3A5395-7EF9-46EF-93B2-0F537F499B99}"/>
    <dgm:cxn modelId="{BCB16AF8-208F-4E5C-8812-459E30A9288E}" srcId="{2627F38B-ADF3-4BDD-9639-ECBC9830EC0D}" destId="{A40849BF-F526-4A84-A5D9-80F6D6BF25A4}" srcOrd="4" destOrd="0" parTransId="{47B6F084-81A2-4CCA-A19F-FF8B0D9C8ACA}" sibTransId="{9CE84C7E-B7BC-4CCA-99B5-8F6ACB944ABB}"/>
    <dgm:cxn modelId="{4507F003-6513-4939-8B9F-501D07D70AE3}" type="presParOf" srcId="{EAE58795-2C0C-437D-A019-99ABEB6BDB85}" destId="{72BE3537-C823-4554-A163-FEB1BFAC9AD2}" srcOrd="0" destOrd="0" presId="urn:microsoft.com/office/officeart/2018/2/layout/IconLabelDescriptionList"/>
    <dgm:cxn modelId="{C9ECEC96-CF45-4CDA-860B-990ACAC59AE3}" type="presParOf" srcId="{72BE3537-C823-4554-A163-FEB1BFAC9AD2}" destId="{B2F445AA-7D78-4306-A822-F57877DE3EFD}" srcOrd="0" destOrd="0" presId="urn:microsoft.com/office/officeart/2018/2/layout/IconLabelDescriptionList"/>
    <dgm:cxn modelId="{9BD6A708-5A70-448C-BF76-4A0510717CF9}" type="presParOf" srcId="{72BE3537-C823-4554-A163-FEB1BFAC9AD2}" destId="{F6666132-9E2E-4718-A843-19995B5F668F}" srcOrd="1" destOrd="0" presId="urn:microsoft.com/office/officeart/2018/2/layout/IconLabelDescriptionList"/>
    <dgm:cxn modelId="{01EABCBE-97BE-44C9-8687-FF71452FE214}" type="presParOf" srcId="{72BE3537-C823-4554-A163-FEB1BFAC9AD2}" destId="{9BAE7794-85F1-428F-BC40-C760FBDF0204}" srcOrd="2" destOrd="0" presId="urn:microsoft.com/office/officeart/2018/2/layout/IconLabelDescriptionList"/>
    <dgm:cxn modelId="{687BAB00-B7FB-4832-87E7-7F0CC1B9ABCB}" type="presParOf" srcId="{72BE3537-C823-4554-A163-FEB1BFAC9AD2}" destId="{895ADC9D-D11E-4D63-A8C5-24D6EDA0DCCB}" srcOrd="3" destOrd="0" presId="urn:microsoft.com/office/officeart/2018/2/layout/IconLabelDescriptionList"/>
    <dgm:cxn modelId="{585621A2-1B10-440A-A054-8FCC962EB3DD}" type="presParOf" srcId="{72BE3537-C823-4554-A163-FEB1BFAC9AD2}" destId="{E9D33593-29DB-4ABA-AA4A-031404C05B31}" srcOrd="4" destOrd="0" presId="urn:microsoft.com/office/officeart/2018/2/layout/IconLabelDescriptionList"/>
    <dgm:cxn modelId="{5EC7A7B3-4683-436D-977E-1653E6606007}" type="presParOf" srcId="{EAE58795-2C0C-437D-A019-99ABEB6BDB85}" destId="{28C040F2-81F0-49C7-A801-1481A823BC71}" srcOrd="1" destOrd="0" presId="urn:microsoft.com/office/officeart/2018/2/layout/IconLabelDescriptionList"/>
    <dgm:cxn modelId="{099E164A-8E88-41F0-A428-6C169D326992}" type="presParOf" srcId="{EAE58795-2C0C-437D-A019-99ABEB6BDB85}" destId="{B4762500-EA64-4ED1-9980-C431006C84E5}" srcOrd="2" destOrd="0" presId="urn:microsoft.com/office/officeart/2018/2/layout/IconLabelDescriptionList"/>
    <dgm:cxn modelId="{CE5469A4-6C74-41F9-9E7D-DA95FABB29A7}" type="presParOf" srcId="{B4762500-EA64-4ED1-9980-C431006C84E5}" destId="{AC5A5715-D281-4BBA-9D6A-3A35C472BF3F}" srcOrd="0" destOrd="0" presId="urn:microsoft.com/office/officeart/2018/2/layout/IconLabelDescriptionList"/>
    <dgm:cxn modelId="{AC3857DD-1737-48F8-8CF2-E01452F25FD3}" type="presParOf" srcId="{B4762500-EA64-4ED1-9980-C431006C84E5}" destId="{483B3112-BA6B-41B7-BA5E-7D346CC1A8E0}" srcOrd="1" destOrd="0" presId="urn:microsoft.com/office/officeart/2018/2/layout/IconLabelDescriptionList"/>
    <dgm:cxn modelId="{1977DAF9-4FD0-405B-B221-201DB4FDB1DC}" type="presParOf" srcId="{B4762500-EA64-4ED1-9980-C431006C84E5}" destId="{B3B8703A-33DA-4777-AC9D-33E79D9BB7DD}" srcOrd="2" destOrd="0" presId="urn:microsoft.com/office/officeart/2018/2/layout/IconLabelDescriptionList"/>
    <dgm:cxn modelId="{BD270B76-1B62-4CF0-BD69-3084BA289735}" type="presParOf" srcId="{B4762500-EA64-4ED1-9980-C431006C84E5}" destId="{96C69B16-1B30-4331-96C3-7BBA335B670A}" srcOrd="3" destOrd="0" presId="urn:microsoft.com/office/officeart/2018/2/layout/IconLabelDescriptionList"/>
    <dgm:cxn modelId="{ED0A1B9D-8C91-447E-8C08-568D6FDE2237}" type="presParOf" srcId="{B4762500-EA64-4ED1-9980-C431006C84E5}" destId="{399C43A8-12B6-4D8D-9DE1-A1F3CFD6D0E5}" srcOrd="4" destOrd="0" presId="urn:microsoft.com/office/officeart/2018/2/layout/IconLabelDescriptionList"/>
    <dgm:cxn modelId="{BAE5698A-C0EC-41BD-9A58-592AFC7BC552}" type="presParOf" srcId="{EAE58795-2C0C-437D-A019-99ABEB6BDB85}" destId="{7846BA79-3CBA-4EFF-AC72-1442A6F84753}" srcOrd="3" destOrd="0" presId="urn:microsoft.com/office/officeart/2018/2/layout/IconLabelDescriptionList"/>
    <dgm:cxn modelId="{FBD9DA2A-C16E-4F98-B8A2-ECAAAEDBDF2B}" type="presParOf" srcId="{EAE58795-2C0C-437D-A019-99ABEB6BDB85}" destId="{1058A84D-E015-492A-8EA8-4679920E93C1}" srcOrd="4" destOrd="0" presId="urn:microsoft.com/office/officeart/2018/2/layout/IconLabelDescriptionList"/>
    <dgm:cxn modelId="{9B4E3259-DA99-4911-BE87-0EA0F47C4BF3}" type="presParOf" srcId="{1058A84D-E015-492A-8EA8-4679920E93C1}" destId="{A78353DF-8860-4E1B-8341-6EABA650FFEE}" srcOrd="0" destOrd="0" presId="urn:microsoft.com/office/officeart/2018/2/layout/IconLabelDescriptionList"/>
    <dgm:cxn modelId="{C60C6F9F-C105-4953-9E21-EAB8F95DCB0F}" type="presParOf" srcId="{1058A84D-E015-492A-8EA8-4679920E93C1}" destId="{83DEBFB8-B6CF-4343-9381-BAC5915B074C}" srcOrd="1" destOrd="0" presId="urn:microsoft.com/office/officeart/2018/2/layout/IconLabelDescriptionList"/>
    <dgm:cxn modelId="{BAC31B2D-DAC0-45CD-BE5D-661971295BAE}" type="presParOf" srcId="{1058A84D-E015-492A-8EA8-4679920E93C1}" destId="{0BBF37A4-A718-49A4-82B9-ABE4FD3C5450}" srcOrd="2" destOrd="0" presId="urn:microsoft.com/office/officeart/2018/2/layout/IconLabelDescriptionList"/>
    <dgm:cxn modelId="{757EF509-CBE0-42B9-9C9C-F1BED7181DCC}" type="presParOf" srcId="{1058A84D-E015-492A-8EA8-4679920E93C1}" destId="{C0BAE6CE-9F07-4524-B9D3-61C27CE232B0}" srcOrd="3" destOrd="0" presId="urn:microsoft.com/office/officeart/2018/2/layout/IconLabelDescriptionList"/>
    <dgm:cxn modelId="{8FFC7872-9305-4B82-A4D6-5DFF75AE2F7C}" type="presParOf" srcId="{1058A84D-E015-492A-8EA8-4679920E93C1}" destId="{7834DB20-EE46-42B1-8E77-78ACD4EDF336}" srcOrd="4" destOrd="0" presId="urn:microsoft.com/office/officeart/2018/2/layout/IconLabelDescriptionList"/>
    <dgm:cxn modelId="{84C6B093-1961-410A-9E42-2F3E26C3C032}" type="presParOf" srcId="{EAE58795-2C0C-437D-A019-99ABEB6BDB85}" destId="{EBB9F3DF-09CA-488F-AC11-81FFA4046B3C}" srcOrd="5" destOrd="0" presId="urn:microsoft.com/office/officeart/2018/2/layout/IconLabelDescriptionList"/>
    <dgm:cxn modelId="{A6EB5E00-905B-471F-984F-F5E6046A24A2}" type="presParOf" srcId="{EAE58795-2C0C-437D-A019-99ABEB6BDB85}" destId="{2E555AC6-4E72-49EF-90EF-9519696C0702}" srcOrd="6" destOrd="0" presId="urn:microsoft.com/office/officeart/2018/2/layout/IconLabelDescriptionList"/>
    <dgm:cxn modelId="{EBDEE25D-A833-4870-939A-3692DA213422}" type="presParOf" srcId="{2E555AC6-4E72-49EF-90EF-9519696C0702}" destId="{22EDB897-057D-4943-9C0C-D817227AD93E}" srcOrd="0" destOrd="0" presId="urn:microsoft.com/office/officeart/2018/2/layout/IconLabelDescriptionList"/>
    <dgm:cxn modelId="{C65EB269-C256-471A-AD64-E884E72F0622}" type="presParOf" srcId="{2E555AC6-4E72-49EF-90EF-9519696C0702}" destId="{529C62E7-50AF-48D5-9561-A6375B158BAB}" srcOrd="1" destOrd="0" presId="urn:microsoft.com/office/officeart/2018/2/layout/IconLabelDescriptionList"/>
    <dgm:cxn modelId="{7E9DDE82-46A0-4FFE-B41E-713E7A56BF6A}" type="presParOf" srcId="{2E555AC6-4E72-49EF-90EF-9519696C0702}" destId="{A282A0F9-2926-4B34-889E-AAB50D67200C}" srcOrd="2" destOrd="0" presId="urn:microsoft.com/office/officeart/2018/2/layout/IconLabelDescriptionList"/>
    <dgm:cxn modelId="{39A50242-D255-494F-80E9-1D7A317D865B}" type="presParOf" srcId="{2E555AC6-4E72-49EF-90EF-9519696C0702}" destId="{5978221C-41E0-4552-99D6-DB07731BF89F}" srcOrd="3" destOrd="0" presId="urn:microsoft.com/office/officeart/2018/2/layout/IconLabelDescriptionList"/>
    <dgm:cxn modelId="{D8887409-26BE-4DC8-A23E-BB21D0992C1E}" type="presParOf" srcId="{2E555AC6-4E72-49EF-90EF-9519696C0702}" destId="{8E28CCBE-C9B7-46F3-9D50-81C73F81D3E0}" srcOrd="4" destOrd="0" presId="urn:microsoft.com/office/officeart/2018/2/layout/IconLabelDescriptionList"/>
    <dgm:cxn modelId="{4A002F14-2E05-433C-98A2-C01864EFC72D}" type="presParOf" srcId="{EAE58795-2C0C-437D-A019-99ABEB6BDB85}" destId="{D7A1DE21-0BA9-4C1E-AABC-F5DB7566B18E}" srcOrd="7" destOrd="0" presId="urn:microsoft.com/office/officeart/2018/2/layout/IconLabelDescriptionList"/>
    <dgm:cxn modelId="{E53E607B-D82C-47A7-818A-946976611576}" type="presParOf" srcId="{EAE58795-2C0C-437D-A019-99ABEB6BDB85}" destId="{64AD22C3-DF86-47F9-B784-6EE0156C3CB8}" srcOrd="8" destOrd="0" presId="urn:microsoft.com/office/officeart/2018/2/layout/IconLabelDescriptionList"/>
    <dgm:cxn modelId="{AA9B897B-E0D9-473C-91CD-768B02EAC61F}" type="presParOf" srcId="{64AD22C3-DF86-47F9-B784-6EE0156C3CB8}" destId="{A8536418-F9A2-4BF6-B634-644CED530FB2}" srcOrd="0" destOrd="0" presId="urn:microsoft.com/office/officeart/2018/2/layout/IconLabelDescriptionList"/>
    <dgm:cxn modelId="{B636AC9A-94AC-4B63-9471-C4C9AE836E03}" type="presParOf" srcId="{64AD22C3-DF86-47F9-B784-6EE0156C3CB8}" destId="{EAAD98DC-1280-46D1-AB40-079548B5DF05}" srcOrd="1" destOrd="0" presId="urn:microsoft.com/office/officeart/2018/2/layout/IconLabelDescriptionList"/>
    <dgm:cxn modelId="{5C068518-A2E3-49D6-B890-E314DD0EF099}" type="presParOf" srcId="{64AD22C3-DF86-47F9-B784-6EE0156C3CB8}" destId="{9F49BB02-056B-4929-9976-88D7FE5E86DD}" srcOrd="2" destOrd="0" presId="urn:microsoft.com/office/officeart/2018/2/layout/IconLabelDescriptionList"/>
    <dgm:cxn modelId="{03491FF9-3110-4021-8A28-16A58468C31B}" type="presParOf" srcId="{64AD22C3-DF86-47F9-B784-6EE0156C3CB8}" destId="{830F9CDD-992A-460A-8139-94A57DE7BD66}" srcOrd="3" destOrd="0" presId="urn:microsoft.com/office/officeart/2018/2/layout/IconLabelDescriptionList"/>
    <dgm:cxn modelId="{9724B842-B2EF-488E-B77C-07928B009A5B}" type="presParOf" srcId="{64AD22C3-DF86-47F9-B784-6EE0156C3CB8}" destId="{54CA4E3F-5C6D-4C24-813C-3B997C8624EC}" srcOrd="4" destOrd="0" presId="urn:microsoft.com/office/officeart/2018/2/layout/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F734A3-682D-4C73-9148-FFD516A4B8DB}" type="doc">
      <dgm:prSet loTypeId="urn:microsoft.com/office/officeart/2018/2/layout/IconCircleList" loCatId="icon" qsTypeId="urn:microsoft.com/office/officeart/2005/8/quickstyle/simple1" qsCatId="simple" csTypeId="urn:microsoft.com/office/officeart/2005/8/colors/colorful1" csCatId="colorful" phldr="1"/>
      <dgm:spPr/>
      <dgm:t>
        <a:bodyPr/>
        <a:lstStyle/>
        <a:p>
          <a:endParaRPr lang="en-US"/>
        </a:p>
      </dgm:t>
    </dgm:pt>
    <dgm:pt modelId="{FE633BB1-B446-45D7-BCA2-6C6A799588D5}">
      <dgm:prSet custT="1"/>
      <dgm:spPr/>
      <dgm:t>
        <a:bodyPr/>
        <a:lstStyle/>
        <a:p>
          <a:pPr>
            <a:lnSpc>
              <a:spcPct val="100000"/>
            </a:lnSpc>
          </a:pPr>
          <a:r>
            <a:rPr lang="en-US" sz="2000"/>
            <a:t>Monitor Accuracy </a:t>
          </a:r>
        </a:p>
      </dgm:t>
    </dgm:pt>
    <dgm:pt modelId="{BD9812F2-3A67-44D1-8B03-484FE208E659}" type="parTrans" cxnId="{311C255A-C3C2-41BB-B493-03E0AB3A807F}">
      <dgm:prSet/>
      <dgm:spPr/>
      <dgm:t>
        <a:bodyPr/>
        <a:lstStyle/>
        <a:p>
          <a:endParaRPr lang="en-US"/>
        </a:p>
      </dgm:t>
    </dgm:pt>
    <dgm:pt modelId="{234FFAD8-87FB-463C-A7F0-E8073CB0CAAE}" type="sibTrans" cxnId="{311C255A-C3C2-41BB-B493-03E0AB3A807F}">
      <dgm:prSet/>
      <dgm:spPr/>
      <dgm:t>
        <a:bodyPr/>
        <a:lstStyle/>
        <a:p>
          <a:pPr>
            <a:lnSpc>
              <a:spcPct val="100000"/>
            </a:lnSpc>
          </a:pPr>
          <a:endParaRPr lang="en-US"/>
        </a:p>
      </dgm:t>
    </dgm:pt>
    <dgm:pt modelId="{044CF02F-7F64-4412-9F9F-F6BEF56B47E4}">
      <dgm:prSet custT="1"/>
      <dgm:spPr/>
      <dgm:t>
        <a:bodyPr/>
        <a:lstStyle/>
        <a:p>
          <a:pPr>
            <a:lnSpc>
              <a:spcPct val="100000"/>
            </a:lnSpc>
          </a:pPr>
          <a:r>
            <a:rPr lang="en-US" sz="2000"/>
            <a:t>Bias</a:t>
          </a:r>
        </a:p>
      </dgm:t>
    </dgm:pt>
    <dgm:pt modelId="{0A83C8D5-B9D1-4826-B0F1-D124EC3CB0D3}" type="parTrans" cxnId="{6F847BC0-ADE4-4155-AD90-490E52D784D0}">
      <dgm:prSet/>
      <dgm:spPr/>
      <dgm:t>
        <a:bodyPr/>
        <a:lstStyle/>
        <a:p>
          <a:endParaRPr lang="en-US"/>
        </a:p>
      </dgm:t>
    </dgm:pt>
    <dgm:pt modelId="{49D4403A-FA54-4B8D-919D-D84982C6723D}" type="sibTrans" cxnId="{6F847BC0-ADE4-4155-AD90-490E52D784D0}">
      <dgm:prSet/>
      <dgm:spPr/>
      <dgm:t>
        <a:bodyPr/>
        <a:lstStyle/>
        <a:p>
          <a:pPr>
            <a:lnSpc>
              <a:spcPct val="100000"/>
            </a:lnSpc>
          </a:pPr>
          <a:endParaRPr lang="en-US"/>
        </a:p>
      </dgm:t>
    </dgm:pt>
    <dgm:pt modelId="{419AF4C6-A0C3-4AAE-833E-10A711B9B136}">
      <dgm:prSet custT="1"/>
      <dgm:spPr/>
      <dgm:t>
        <a:bodyPr/>
        <a:lstStyle/>
        <a:p>
          <a:pPr>
            <a:lnSpc>
              <a:spcPct val="100000"/>
            </a:lnSpc>
          </a:pPr>
          <a:r>
            <a:rPr lang="en-US" sz="2000"/>
            <a:t>Synthetic Data</a:t>
          </a:r>
        </a:p>
      </dgm:t>
    </dgm:pt>
    <dgm:pt modelId="{5E8726E5-8585-456D-B6AD-7E076C909A5B}" type="parTrans" cxnId="{38B1D5C0-6F99-4653-A4E1-1AA056F443A3}">
      <dgm:prSet/>
      <dgm:spPr/>
      <dgm:t>
        <a:bodyPr/>
        <a:lstStyle/>
        <a:p>
          <a:endParaRPr lang="en-US"/>
        </a:p>
      </dgm:t>
    </dgm:pt>
    <dgm:pt modelId="{B13F109C-3F62-4B97-B4DC-E8BDD5766873}" type="sibTrans" cxnId="{38B1D5C0-6F99-4653-A4E1-1AA056F443A3}">
      <dgm:prSet/>
      <dgm:spPr/>
      <dgm:t>
        <a:bodyPr/>
        <a:lstStyle/>
        <a:p>
          <a:pPr>
            <a:lnSpc>
              <a:spcPct val="100000"/>
            </a:lnSpc>
          </a:pPr>
          <a:endParaRPr lang="en-US"/>
        </a:p>
      </dgm:t>
    </dgm:pt>
    <dgm:pt modelId="{012FF81F-CF4E-40BD-BED4-097CC3247F46}">
      <dgm:prSet custT="1"/>
      <dgm:spPr/>
      <dgm:t>
        <a:bodyPr/>
        <a:lstStyle/>
        <a:p>
          <a:pPr>
            <a:lnSpc>
              <a:spcPct val="100000"/>
            </a:lnSpc>
          </a:pPr>
          <a:r>
            <a:rPr lang="en-US" sz="2000"/>
            <a:t>Supervised Methods</a:t>
          </a:r>
        </a:p>
      </dgm:t>
    </dgm:pt>
    <dgm:pt modelId="{0868ED80-13E8-4150-8C9E-CA1335FBFF1D}" type="parTrans" cxnId="{35141FD3-3450-444D-BFCF-8A9F4D96E6B8}">
      <dgm:prSet/>
      <dgm:spPr/>
      <dgm:t>
        <a:bodyPr/>
        <a:lstStyle/>
        <a:p>
          <a:endParaRPr lang="en-US"/>
        </a:p>
      </dgm:t>
    </dgm:pt>
    <dgm:pt modelId="{88393451-327C-4842-874E-A4DBF5D65B67}" type="sibTrans" cxnId="{35141FD3-3450-444D-BFCF-8A9F4D96E6B8}">
      <dgm:prSet/>
      <dgm:spPr/>
      <dgm:t>
        <a:bodyPr/>
        <a:lstStyle/>
        <a:p>
          <a:pPr>
            <a:lnSpc>
              <a:spcPct val="100000"/>
            </a:lnSpc>
          </a:pPr>
          <a:endParaRPr lang="en-US"/>
        </a:p>
      </dgm:t>
    </dgm:pt>
    <dgm:pt modelId="{3AB1AF40-854D-41C0-9706-B7F83B597924}" type="pres">
      <dgm:prSet presAssocID="{2FF734A3-682D-4C73-9148-FFD516A4B8DB}" presName="root" presStyleCnt="0">
        <dgm:presLayoutVars>
          <dgm:dir/>
          <dgm:resizeHandles val="exact"/>
        </dgm:presLayoutVars>
      </dgm:prSet>
      <dgm:spPr/>
    </dgm:pt>
    <dgm:pt modelId="{56087E45-6896-4AED-A1F9-C0E4532B5CE6}" type="pres">
      <dgm:prSet presAssocID="{2FF734A3-682D-4C73-9148-FFD516A4B8DB}" presName="container" presStyleCnt="0">
        <dgm:presLayoutVars>
          <dgm:dir/>
          <dgm:resizeHandles val="exact"/>
        </dgm:presLayoutVars>
      </dgm:prSet>
      <dgm:spPr/>
    </dgm:pt>
    <dgm:pt modelId="{73C38492-CB5F-43FA-A8B7-7719FA605CCC}" type="pres">
      <dgm:prSet presAssocID="{419AF4C6-A0C3-4AAE-833E-10A711B9B136}" presName="compNode" presStyleCnt="0"/>
      <dgm:spPr/>
    </dgm:pt>
    <dgm:pt modelId="{325B96EC-DFE7-4075-8C76-63CE76B9D391}" type="pres">
      <dgm:prSet presAssocID="{419AF4C6-A0C3-4AAE-833E-10A711B9B136}" presName="iconBgRect" presStyleLbl="bgShp" presStyleIdx="0" presStyleCnt="4"/>
      <dgm:spPr>
        <a:solidFill>
          <a:schemeClr val="accent3">
            <a:lumMod val="20000"/>
            <a:lumOff val="80000"/>
          </a:schemeClr>
        </a:solidFill>
      </dgm:spPr>
    </dgm:pt>
    <dgm:pt modelId="{3D8BFEC6-62C3-4560-AA1C-11B08E5A1FD1}" type="pres">
      <dgm:prSet presAssocID="{419AF4C6-A0C3-4AAE-833E-10A711B9B136}"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ransfer with solid fill"/>
        </a:ext>
      </dgm:extLst>
    </dgm:pt>
    <dgm:pt modelId="{6D119A93-3B7D-4718-A0EC-5997D4969C18}" type="pres">
      <dgm:prSet presAssocID="{419AF4C6-A0C3-4AAE-833E-10A711B9B136}" presName="spaceRect" presStyleCnt="0"/>
      <dgm:spPr/>
    </dgm:pt>
    <dgm:pt modelId="{2BDA545F-B3A2-4B41-A2D3-930463BD9509}" type="pres">
      <dgm:prSet presAssocID="{419AF4C6-A0C3-4AAE-833E-10A711B9B136}" presName="textRect" presStyleLbl="revTx" presStyleIdx="0" presStyleCnt="4">
        <dgm:presLayoutVars>
          <dgm:chMax val="1"/>
          <dgm:chPref val="1"/>
        </dgm:presLayoutVars>
      </dgm:prSet>
      <dgm:spPr/>
    </dgm:pt>
    <dgm:pt modelId="{53AD4FBA-B139-4832-8036-E0367C0D6850}" type="pres">
      <dgm:prSet presAssocID="{B13F109C-3F62-4B97-B4DC-E8BDD5766873}" presName="sibTrans" presStyleLbl="sibTrans2D1" presStyleIdx="0" presStyleCnt="0"/>
      <dgm:spPr/>
    </dgm:pt>
    <dgm:pt modelId="{9B2B2CDE-1576-42FF-9218-600811F2DF13}" type="pres">
      <dgm:prSet presAssocID="{012FF81F-CF4E-40BD-BED4-097CC3247F46}" presName="compNode" presStyleCnt="0"/>
      <dgm:spPr/>
    </dgm:pt>
    <dgm:pt modelId="{B2325EFE-910D-4D41-8EBB-A0AF1F5F1F6B}" type="pres">
      <dgm:prSet presAssocID="{012FF81F-CF4E-40BD-BED4-097CC3247F46}" presName="iconBgRect" presStyleLbl="bgShp" presStyleIdx="1" presStyleCnt="4" custLinFactNeighborX="-1686" custLinFactNeighborY="4694"/>
      <dgm:spPr>
        <a:solidFill>
          <a:schemeClr val="accent3">
            <a:lumMod val="20000"/>
            <a:lumOff val="80000"/>
          </a:schemeClr>
        </a:solidFill>
      </dgm:spPr>
    </dgm:pt>
    <dgm:pt modelId="{C13DA563-8F78-458C-AC18-491A07A52A99}" type="pres">
      <dgm:prSet presAssocID="{012FF81F-CF4E-40BD-BED4-097CC3247F46}" presName="iconRect" presStyleLbl="node1" presStyleIdx="1" presStyleCnt="4" custLinFactNeighborX="-1" custLinFactNeighborY="7331"/>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rtificial Intelligence outline"/>
        </a:ext>
      </dgm:extLst>
    </dgm:pt>
    <dgm:pt modelId="{1928EA97-7C79-4DFF-9D3C-CFCCF39A87D4}" type="pres">
      <dgm:prSet presAssocID="{012FF81F-CF4E-40BD-BED4-097CC3247F46}" presName="spaceRect" presStyleCnt="0"/>
      <dgm:spPr/>
    </dgm:pt>
    <dgm:pt modelId="{9E905B66-2287-4759-99E1-62ED97575E9E}" type="pres">
      <dgm:prSet presAssocID="{012FF81F-CF4E-40BD-BED4-097CC3247F46}" presName="textRect" presStyleLbl="revTx" presStyleIdx="1" presStyleCnt="4">
        <dgm:presLayoutVars>
          <dgm:chMax val="1"/>
          <dgm:chPref val="1"/>
        </dgm:presLayoutVars>
      </dgm:prSet>
      <dgm:spPr/>
    </dgm:pt>
    <dgm:pt modelId="{9EC3E549-31BE-4DE7-A644-493AB066404C}" type="pres">
      <dgm:prSet presAssocID="{88393451-327C-4842-874E-A4DBF5D65B67}" presName="sibTrans" presStyleLbl="sibTrans2D1" presStyleIdx="0" presStyleCnt="0"/>
      <dgm:spPr/>
    </dgm:pt>
    <dgm:pt modelId="{B19D57E3-98C4-4E09-864C-95EEFC4D0045}" type="pres">
      <dgm:prSet presAssocID="{FE633BB1-B446-45D7-BCA2-6C6A799588D5}" presName="compNode" presStyleCnt="0"/>
      <dgm:spPr/>
    </dgm:pt>
    <dgm:pt modelId="{7B63C82A-B980-41C1-B550-55A59C78E0C4}" type="pres">
      <dgm:prSet presAssocID="{FE633BB1-B446-45D7-BCA2-6C6A799588D5}" presName="iconBgRect" presStyleLbl="bgShp" presStyleIdx="2" presStyleCnt="4"/>
      <dgm:spPr/>
    </dgm:pt>
    <dgm:pt modelId="{DA0C3518-ED1F-4C6A-B4DC-E4DCC1AE3FD1}" type="pres">
      <dgm:prSet presAssocID="{FE633BB1-B446-45D7-BCA2-6C6A799588D5}"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tatistics outline"/>
        </a:ext>
      </dgm:extLst>
    </dgm:pt>
    <dgm:pt modelId="{4338FC89-59C0-4C2A-BD54-007000AE578C}" type="pres">
      <dgm:prSet presAssocID="{FE633BB1-B446-45D7-BCA2-6C6A799588D5}" presName="spaceRect" presStyleCnt="0"/>
      <dgm:spPr/>
    </dgm:pt>
    <dgm:pt modelId="{2D805D70-76DE-4DBC-939B-65307A89760D}" type="pres">
      <dgm:prSet presAssocID="{FE633BB1-B446-45D7-BCA2-6C6A799588D5}" presName="textRect" presStyleLbl="revTx" presStyleIdx="2" presStyleCnt="4">
        <dgm:presLayoutVars>
          <dgm:chMax val="1"/>
          <dgm:chPref val="1"/>
        </dgm:presLayoutVars>
      </dgm:prSet>
      <dgm:spPr/>
    </dgm:pt>
    <dgm:pt modelId="{9FF3BA00-C6E7-431B-92DF-712778DC1846}" type="pres">
      <dgm:prSet presAssocID="{234FFAD8-87FB-463C-A7F0-E8073CB0CAAE}" presName="sibTrans" presStyleLbl="sibTrans2D1" presStyleIdx="0" presStyleCnt="0"/>
      <dgm:spPr/>
    </dgm:pt>
    <dgm:pt modelId="{231A0665-898B-4C6D-80F4-E01DA8EDE76B}" type="pres">
      <dgm:prSet presAssocID="{044CF02F-7F64-4412-9F9F-F6BEF56B47E4}" presName="compNode" presStyleCnt="0"/>
      <dgm:spPr/>
    </dgm:pt>
    <dgm:pt modelId="{022EB873-071B-4BAF-8C65-D9341B871B9E}" type="pres">
      <dgm:prSet presAssocID="{044CF02F-7F64-4412-9F9F-F6BEF56B47E4}" presName="iconBgRect" presStyleLbl="bgShp" presStyleIdx="3" presStyleCnt="4"/>
      <dgm:spPr/>
    </dgm:pt>
    <dgm:pt modelId="{D17E9F87-285F-4066-96DE-93803B850BBA}" type="pres">
      <dgm:prSet presAssocID="{044CF02F-7F64-4412-9F9F-F6BEF56B47E4}" presName="iconRect" presStyleLbl="node1" presStyleIdx="3" presStyleCnt="4" custLinFactNeighborX="2199" custLinFactNeighborY="-599"/>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usiness Growth with solid fill"/>
        </a:ext>
      </dgm:extLst>
    </dgm:pt>
    <dgm:pt modelId="{D3CF8CFB-C24B-4EF4-BE3A-95805C2E0521}" type="pres">
      <dgm:prSet presAssocID="{044CF02F-7F64-4412-9F9F-F6BEF56B47E4}" presName="spaceRect" presStyleCnt="0"/>
      <dgm:spPr/>
    </dgm:pt>
    <dgm:pt modelId="{03926539-77CA-44BB-B14E-28165196F65C}" type="pres">
      <dgm:prSet presAssocID="{044CF02F-7F64-4412-9F9F-F6BEF56B47E4}" presName="textRect" presStyleLbl="revTx" presStyleIdx="3" presStyleCnt="4">
        <dgm:presLayoutVars>
          <dgm:chMax val="1"/>
          <dgm:chPref val="1"/>
        </dgm:presLayoutVars>
      </dgm:prSet>
      <dgm:spPr/>
    </dgm:pt>
  </dgm:ptLst>
  <dgm:cxnLst>
    <dgm:cxn modelId="{D662D326-FF20-40AF-8204-9BBFB9E65B5E}" type="presOf" srcId="{88393451-327C-4842-874E-A4DBF5D65B67}" destId="{9EC3E549-31BE-4DE7-A644-493AB066404C}" srcOrd="0" destOrd="0" presId="urn:microsoft.com/office/officeart/2018/2/layout/IconCircleList"/>
    <dgm:cxn modelId="{7725782C-6730-4EB3-B239-C520B8BACF6A}" type="presOf" srcId="{419AF4C6-A0C3-4AAE-833E-10A711B9B136}" destId="{2BDA545F-B3A2-4B41-A2D3-930463BD9509}" srcOrd="0" destOrd="0" presId="urn:microsoft.com/office/officeart/2018/2/layout/IconCircleList"/>
    <dgm:cxn modelId="{EEEA574D-02FE-4257-86CF-8B3412B47B2F}" type="presOf" srcId="{012FF81F-CF4E-40BD-BED4-097CC3247F46}" destId="{9E905B66-2287-4759-99E1-62ED97575E9E}" srcOrd="0" destOrd="0" presId="urn:microsoft.com/office/officeart/2018/2/layout/IconCircleList"/>
    <dgm:cxn modelId="{EE937577-8BC5-487A-8363-75BDB021F0B0}" type="presOf" srcId="{044CF02F-7F64-4412-9F9F-F6BEF56B47E4}" destId="{03926539-77CA-44BB-B14E-28165196F65C}" srcOrd="0" destOrd="0" presId="urn:microsoft.com/office/officeart/2018/2/layout/IconCircleList"/>
    <dgm:cxn modelId="{2A7CD378-642B-41AC-9C29-C09E32B862AB}" type="presOf" srcId="{FE633BB1-B446-45D7-BCA2-6C6A799588D5}" destId="{2D805D70-76DE-4DBC-939B-65307A89760D}" srcOrd="0" destOrd="0" presId="urn:microsoft.com/office/officeart/2018/2/layout/IconCircleList"/>
    <dgm:cxn modelId="{311C255A-C3C2-41BB-B493-03E0AB3A807F}" srcId="{2FF734A3-682D-4C73-9148-FFD516A4B8DB}" destId="{FE633BB1-B446-45D7-BCA2-6C6A799588D5}" srcOrd="2" destOrd="0" parTransId="{BD9812F2-3A67-44D1-8B03-484FE208E659}" sibTransId="{234FFAD8-87FB-463C-A7F0-E8073CB0CAAE}"/>
    <dgm:cxn modelId="{6F847BC0-ADE4-4155-AD90-490E52D784D0}" srcId="{2FF734A3-682D-4C73-9148-FFD516A4B8DB}" destId="{044CF02F-7F64-4412-9F9F-F6BEF56B47E4}" srcOrd="3" destOrd="0" parTransId="{0A83C8D5-B9D1-4826-B0F1-D124EC3CB0D3}" sibTransId="{49D4403A-FA54-4B8D-919D-D84982C6723D}"/>
    <dgm:cxn modelId="{38B1D5C0-6F99-4653-A4E1-1AA056F443A3}" srcId="{2FF734A3-682D-4C73-9148-FFD516A4B8DB}" destId="{419AF4C6-A0C3-4AAE-833E-10A711B9B136}" srcOrd="0" destOrd="0" parTransId="{5E8726E5-8585-456D-B6AD-7E076C909A5B}" sibTransId="{B13F109C-3F62-4B97-B4DC-E8BDD5766873}"/>
    <dgm:cxn modelId="{9955DAC2-6AAA-4FA0-933B-612440DFF7ED}" type="presOf" srcId="{2FF734A3-682D-4C73-9148-FFD516A4B8DB}" destId="{3AB1AF40-854D-41C0-9706-B7F83B597924}" srcOrd="0" destOrd="0" presId="urn:microsoft.com/office/officeart/2018/2/layout/IconCircleList"/>
    <dgm:cxn modelId="{35141FD3-3450-444D-BFCF-8A9F4D96E6B8}" srcId="{2FF734A3-682D-4C73-9148-FFD516A4B8DB}" destId="{012FF81F-CF4E-40BD-BED4-097CC3247F46}" srcOrd="1" destOrd="0" parTransId="{0868ED80-13E8-4150-8C9E-CA1335FBFF1D}" sibTransId="{88393451-327C-4842-874E-A4DBF5D65B67}"/>
    <dgm:cxn modelId="{71C017F5-3A09-4D3A-B00D-D7FB18FB5C0B}" type="presOf" srcId="{B13F109C-3F62-4B97-B4DC-E8BDD5766873}" destId="{53AD4FBA-B139-4832-8036-E0367C0D6850}" srcOrd="0" destOrd="0" presId="urn:microsoft.com/office/officeart/2018/2/layout/IconCircleList"/>
    <dgm:cxn modelId="{2A2B50FD-11BA-4E37-BFB3-651DBA63C38C}" type="presOf" srcId="{234FFAD8-87FB-463C-A7F0-E8073CB0CAAE}" destId="{9FF3BA00-C6E7-431B-92DF-712778DC1846}" srcOrd="0" destOrd="0" presId="urn:microsoft.com/office/officeart/2018/2/layout/IconCircleList"/>
    <dgm:cxn modelId="{79BA95C6-6124-4E90-9AB0-A13EE9743ADC}" type="presParOf" srcId="{3AB1AF40-854D-41C0-9706-B7F83B597924}" destId="{56087E45-6896-4AED-A1F9-C0E4532B5CE6}" srcOrd="0" destOrd="0" presId="urn:microsoft.com/office/officeart/2018/2/layout/IconCircleList"/>
    <dgm:cxn modelId="{EF1340C7-9A31-481D-AC5D-444A3EFBED82}" type="presParOf" srcId="{56087E45-6896-4AED-A1F9-C0E4532B5CE6}" destId="{73C38492-CB5F-43FA-A8B7-7719FA605CCC}" srcOrd="0" destOrd="0" presId="urn:microsoft.com/office/officeart/2018/2/layout/IconCircleList"/>
    <dgm:cxn modelId="{D9B610EB-D713-4134-8C26-5964726FDFC3}" type="presParOf" srcId="{73C38492-CB5F-43FA-A8B7-7719FA605CCC}" destId="{325B96EC-DFE7-4075-8C76-63CE76B9D391}" srcOrd="0" destOrd="0" presId="urn:microsoft.com/office/officeart/2018/2/layout/IconCircleList"/>
    <dgm:cxn modelId="{03C1860B-631B-45B7-95A7-712DA5937E3A}" type="presParOf" srcId="{73C38492-CB5F-43FA-A8B7-7719FA605CCC}" destId="{3D8BFEC6-62C3-4560-AA1C-11B08E5A1FD1}" srcOrd="1" destOrd="0" presId="urn:microsoft.com/office/officeart/2018/2/layout/IconCircleList"/>
    <dgm:cxn modelId="{232A663A-736D-49A0-A704-2ABAF1DF8A04}" type="presParOf" srcId="{73C38492-CB5F-43FA-A8B7-7719FA605CCC}" destId="{6D119A93-3B7D-4718-A0EC-5997D4969C18}" srcOrd="2" destOrd="0" presId="urn:microsoft.com/office/officeart/2018/2/layout/IconCircleList"/>
    <dgm:cxn modelId="{B040725F-5F68-48E8-9A9B-83797D033CBD}" type="presParOf" srcId="{73C38492-CB5F-43FA-A8B7-7719FA605CCC}" destId="{2BDA545F-B3A2-4B41-A2D3-930463BD9509}" srcOrd="3" destOrd="0" presId="urn:microsoft.com/office/officeart/2018/2/layout/IconCircleList"/>
    <dgm:cxn modelId="{E729C1F3-5582-4B42-A7F4-F7D96F11FA2B}" type="presParOf" srcId="{56087E45-6896-4AED-A1F9-C0E4532B5CE6}" destId="{53AD4FBA-B139-4832-8036-E0367C0D6850}" srcOrd="1" destOrd="0" presId="urn:microsoft.com/office/officeart/2018/2/layout/IconCircleList"/>
    <dgm:cxn modelId="{96A0AE68-2556-4911-9522-568F7BBED1D8}" type="presParOf" srcId="{56087E45-6896-4AED-A1F9-C0E4532B5CE6}" destId="{9B2B2CDE-1576-42FF-9218-600811F2DF13}" srcOrd="2" destOrd="0" presId="urn:microsoft.com/office/officeart/2018/2/layout/IconCircleList"/>
    <dgm:cxn modelId="{91BCE118-1D8D-4975-8589-2898A31003A0}" type="presParOf" srcId="{9B2B2CDE-1576-42FF-9218-600811F2DF13}" destId="{B2325EFE-910D-4D41-8EBB-A0AF1F5F1F6B}" srcOrd="0" destOrd="0" presId="urn:microsoft.com/office/officeart/2018/2/layout/IconCircleList"/>
    <dgm:cxn modelId="{E817E9F4-7ACB-47DC-9A34-12BE9300E55F}" type="presParOf" srcId="{9B2B2CDE-1576-42FF-9218-600811F2DF13}" destId="{C13DA563-8F78-458C-AC18-491A07A52A99}" srcOrd="1" destOrd="0" presId="urn:microsoft.com/office/officeart/2018/2/layout/IconCircleList"/>
    <dgm:cxn modelId="{D8338667-3D46-44C5-A442-AA0D18EAF046}" type="presParOf" srcId="{9B2B2CDE-1576-42FF-9218-600811F2DF13}" destId="{1928EA97-7C79-4DFF-9D3C-CFCCF39A87D4}" srcOrd="2" destOrd="0" presId="urn:microsoft.com/office/officeart/2018/2/layout/IconCircleList"/>
    <dgm:cxn modelId="{1B19F05E-1E33-4423-A59B-784DA256FCBF}" type="presParOf" srcId="{9B2B2CDE-1576-42FF-9218-600811F2DF13}" destId="{9E905B66-2287-4759-99E1-62ED97575E9E}" srcOrd="3" destOrd="0" presId="urn:microsoft.com/office/officeart/2018/2/layout/IconCircleList"/>
    <dgm:cxn modelId="{6BCE9CA6-3EE6-4518-9E9B-3D2C8F479074}" type="presParOf" srcId="{56087E45-6896-4AED-A1F9-C0E4532B5CE6}" destId="{9EC3E549-31BE-4DE7-A644-493AB066404C}" srcOrd="3" destOrd="0" presId="urn:microsoft.com/office/officeart/2018/2/layout/IconCircleList"/>
    <dgm:cxn modelId="{D6AD9F77-7F12-46C8-A78F-3BE18B80FCD8}" type="presParOf" srcId="{56087E45-6896-4AED-A1F9-C0E4532B5CE6}" destId="{B19D57E3-98C4-4E09-864C-95EEFC4D0045}" srcOrd="4" destOrd="0" presId="urn:microsoft.com/office/officeart/2018/2/layout/IconCircleList"/>
    <dgm:cxn modelId="{29F005CE-8917-43AA-B512-9133C2E071BA}" type="presParOf" srcId="{B19D57E3-98C4-4E09-864C-95EEFC4D0045}" destId="{7B63C82A-B980-41C1-B550-55A59C78E0C4}" srcOrd="0" destOrd="0" presId="urn:microsoft.com/office/officeart/2018/2/layout/IconCircleList"/>
    <dgm:cxn modelId="{A8FAAECC-D889-4A26-9B1F-AB367E420F54}" type="presParOf" srcId="{B19D57E3-98C4-4E09-864C-95EEFC4D0045}" destId="{DA0C3518-ED1F-4C6A-B4DC-E4DCC1AE3FD1}" srcOrd="1" destOrd="0" presId="urn:microsoft.com/office/officeart/2018/2/layout/IconCircleList"/>
    <dgm:cxn modelId="{7C3CA2DE-E362-4C54-9ADD-9515221C686A}" type="presParOf" srcId="{B19D57E3-98C4-4E09-864C-95EEFC4D0045}" destId="{4338FC89-59C0-4C2A-BD54-007000AE578C}" srcOrd="2" destOrd="0" presId="urn:microsoft.com/office/officeart/2018/2/layout/IconCircleList"/>
    <dgm:cxn modelId="{88CFC8EC-8A7B-4841-9483-C6D1D5733BC5}" type="presParOf" srcId="{B19D57E3-98C4-4E09-864C-95EEFC4D0045}" destId="{2D805D70-76DE-4DBC-939B-65307A89760D}" srcOrd="3" destOrd="0" presId="urn:microsoft.com/office/officeart/2018/2/layout/IconCircleList"/>
    <dgm:cxn modelId="{31206E4C-7C0A-43F7-A458-5BC416BC5ECF}" type="presParOf" srcId="{56087E45-6896-4AED-A1F9-C0E4532B5CE6}" destId="{9FF3BA00-C6E7-431B-92DF-712778DC1846}" srcOrd="5" destOrd="0" presId="urn:microsoft.com/office/officeart/2018/2/layout/IconCircleList"/>
    <dgm:cxn modelId="{A143FE4C-9D2B-440A-828D-872225065BB9}" type="presParOf" srcId="{56087E45-6896-4AED-A1F9-C0E4532B5CE6}" destId="{231A0665-898B-4C6D-80F4-E01DA8EDE76B}" srcOrd="6" destOrd="0" presId="urn:microsoft.com/office/officeart/2018/2/layout/IconCircleList"/>
    <dgm:cxn modelId="{04064F00-14B3-4909-9FE2-090AC5EA0496}" type="presParOf" srcId="{231A0665-898B-4C6D-80F4-E01DA8EDE76B}" destId="{022EB873-071B-4BAF-8C65-D9341B871B9E}" srcOrd="0" destOrd="0" presId="urn:microsoft.com/office/officeart/2018/2/layout/IconCircleList"/>
    <dgm:cxn modelId="{6ACB02BA-1F8C-4280-9080-9CA4D55D7872}" type="presParOf" srcId="{231A0665-898B-4C6D-80F4-E01DA8EDE76B}" destId="{D17E9F87-285F-4066-96DE-93803B850BBA}" srcOrd="1" destOrd="0" presId="urn:microsoft.com/office/officeart/2018/2/layout/IconCircleList"/>
    <dgm:cxn modelId="{7BEA785D-C422-4314-846E-8E00FCB389DE}" type="presParOf" srcId="{231A0665-898B-4C6D-80F4-E01DA8EDE76B}" destId="{D3CF8CFB-C24B-4EF4-BE3A-95805C2E0521}" srcOrd="2" destOrd="0" presId="urn:microsoft.com/office/officeart/2018/2/layout/IconCircleList"/>
    <dgm:cxn modelId="{DB6BB568-0805-4C2E-A363-388E6090AD97}" type="presParOf" srcId="{231A0665-898B-4C6D-80F4-E01DA8EDE76B}" destId="{03926539-77CA-44BB-B14E-28165196F65C}"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445AA-7D78-4306-A822-F57877DE3EFD}">
      <dsp:nvSpPr>
        <dsp:cNvPr id="0" name=""/>
        <dsp:cNvSpPr/>
      </dsp:nvSpPr>
      <dsp:spPr>
        <a:xfrm>
          <a:off x="12706" y="591741"/>
          <a:ext cx="648315" cy="6217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AE7794-85F1-428F-BC40-C760FBDF0204}">
      <dsp:nvSpPr>
        <dsp:cNvPr id="0" name=""/>
        <dsp:cNvSpPr/>
      </dsp:nvSpPr>
      <dsp:spPr>
        <a:xfrm>
          <a:off x="12706" y="1335473"/>
          <a:ext cx="1850521" cy="2054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Source</a:t>
          </a:r>
          <a:r>
            <a:rPr lang="en-US" sz="1800" kern="1200"/>
            <a:t>: </a:t>
          </a:r>
        </a:p>
        <a:p>
          <a:pPr marL="0" lvl="0" indent="0" algn="l" defTabSz="800100">
            <a:lnSpc>
              <a:spcPct val="100000"/>
            </a:lnSpc>
            <a:spcBef>
              <a:spcPct val="0"/>
            </a:spcBef>
            <a:spcAft>
              <a:spcPct val="35000"/>
            </a:spcAft>
            <a:buNone/>
            <a:defRPr b="1"/>
          </a:pPr>
          <a:r>
            <a:rPr lang="en-US" sz="1800" b="0" kern="1200"/>
            <a:t>Kaggle PaySim1 Dataset</a:t>
          </a:r>
        </a:p>
      </dsp:txBody>
      <dsp:txXfrm>
        <a:off x="12706" y="1335473"/>
        <a:ext cx="1850521" cy="2054086"/>
      </dsp:txXfrm>
    </dsp:sp>
    <dsp:sp modelId="{E9D33593-29DB-4ABA-AA4A-031404C05B31}">
      <dsp:nvSpPr>
        <dsp:cNvPr id="0" name=""/>
        <dsp:cNvSpPr/>
      </dsp:nvSpPr>
      <dsp:spPr>
        <a:xfrm>
          <a:off x="12706" y="3446293"/>
          <a:ext cx="1850521" cy="105"/>
        </a:xfrm>
        <a:prstGeom prst="rect">
          <a:avLst/>
        </a:prstGeom>
        <a:noFill/>
        <a:ln>
          <a:noFill/>
        </a:ln>
        <a:effectLst/>
      </dsp:spPr>
      <dsp:style>
        <a:lnRef idx="0">
          <a:scrgbClr r="0" g="0" b="0"/>
        </a:lnRef>
        <a:fillRef idx="0">
          <a:scrgbClr r="0" g="0" b="0"/>
        </a:fillRef>
        <a:effectRef idx="0">
          <a:scrgbClr r="0" g="0" b="0"/>
        </a:effectRef>
        <a:fontRef idx="minor"/>
      </dsp:style>
    </dsp:sp>
    <dsp:sp modelId="{AC5A5715-D281-4BBA-9D6A-3A35C472BF3F}">
      <dsp:nvSpPr>
        <dsp:cNvPr id="0" name=""/>
        <dsp:cNvSpPr/>
      </dsp:nvSpPr>
      <dsp:spPr>
        <a:xfrm>
          <a:off x="2258230" y="591741"/>
          <a:ext cx="648315" cy="6217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B8703A-33DA-4777-AC9D-33E79D9BB7DD}">
      <dsp:nvSpPr>
        <dsp:cNvPr id="0" name=""/>
        <dsp:cNvSpPr/>
      </dsp:nvSpPr>
      <dsp:spPr>
        <a:xfrm>
          <a:off x="2187068" y="1335473"/>
          <a:ext cx="1992844" cy="2054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Content</a:t>
          </a:r>
          <a:r>
            <a:rPr lang="en-US" sz="1800" kern="1200"/>
            <a:t>: </a:t>
          </a:r>
        </a:p>
        <a:p>
          <a:pPr marL="0" lvl="0" indent="0" algn="l" defTabSz="800100">
            <a:lnSpc>
              <a:spcPct val="100000"/>
            </a:lnSpc>
            <a:spcBef>
              <a:spcPct val="0"/>
            </a:spcBef>
            <a:spcAft>
              <a:spcPct val="35000"/>
            </a:spcAft>
            <a:buNone/>
            <a:defRPr b="1"/>
          </a:pPr>
          <a:r>
            <a:rPr lang="en-US" sz="1800" b="0" kern="1200"/>
            <a:t>1M synthetic financial transactions with 11 features (e.g., amount, location, type)</a:t>
          </a:r>
        </a:p>
      </dsp:txBody>
      <dsp:txXfrm>
        <a:off x="2187068" y="1335473"/>
        <a:ext cx="1992844" cy="2054086"/>
      </dsp:txXfrm>
    </dsp:sp>
    <dsp:sp modelId="{399C43A8-12B6-4D8D-9DE1-A1F3CFD6D0E5}">
      <dsp:nvSpPr>
        <dsp:cNvPr id="0" name=""/>
        <dsp:cNvSpPr/>
      </dsp:nvSpPr>
      <dsp:spPr>
        <a:xfrm>
          <a:off x="2258230" y="3446293"/>
          <a:ext cx="1850521" cy="105"/>
        </a:xfrm>
        <a:prstGeom prst="rect">
          <a:avLst/>
        </a:prstGeom>
        <a:noFill/>
        <a:ln>
          <a:noFill/>
        </a:ln>
        <a:effectLst/>
      </dsp:spPr>
      <dsp:style>
        <a:lnRef idx="0">
          <a:scrgbClr r="0" g="0" b="0"/>
        </a:lnRef>
        <a:fillRef idx="0">
          <a:scrgbClr r="0" g="0" b="0"/>
        </a:fillRef>
        <a:effectRef idx="0">
          <a:scrgbClr r="0" g="0" b="0"/>
        </a:effectRef>
        <a:fontRef idx="minor"/>
      </dsp:style>
    </dsp:sp>
    <dsp:sp modelId="{A78353DF-8860-4E1B-8341-6EABA650FFEE}">
      <dsp:nvSpPr>
        <dsp:cNvPr id="0" name=""/>
        <dsp:cNvSpPr/>
      </dsp:nvSpPr>
      <dsp:spPr>
        <a:xfrm>
          <a:off x="4503754" y="591741"/>
          <a:ext cx="648315" cy="6217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BF37A4-A718-49A4-82B9-ABE4FD3C5450}">
      <dsp:nvSpPr>
        <dsp:cNvPr id="0" name=""/>
        <dsp:cNvSpPr/>
      </dsp:nvSpPr>
      <dsp:spPr>
        <a:xfrm>
          <a:off x="4503754" y="1335473"/>
          <a:ext cx="1850521" cy="2054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Purpose</a:t>
          </a:r>
          <a:r>
            <a:rPr lang="en-US" sz="1800" kern="1200"/>
            <a:t>: </a:t>
          </a:r>
        </a:p>
        <a:p>
          <a:pPr marL="0" lvl="0" indent="0" algn="l" defTabSz="800100">
            <a:lnSpc>
              <a:spcPct val="100000"/>
            </a:lnSpc>
            <a:spcBef>
              <a:spcPct val="0"/>
            </a:spcBef>
            <a:spcAft>
              <a:spcPct val="35000"/>
            </a:spcAft>
            <a:buNone/>
            <a:defRPr b="1"/>
          </a:pPr>
          <a:r>
            <a:rPr lang="en-US" sz="1800" b="0" kern="1200"/>
            <a:t>Fraud detection research using simulated real-world financial data</a:t>
          </a:r>
        </a:p>
      </dsp:txBody>
      <dsp:txXfrm>
        <a:off x="4503754" y="1335473"/>
        <a:ext cx="1850521" cy="2054086"/>
      </dsp:txXfrm>
    </dsp:sp>
    <dsp:sp modelId="{7834DB20-EE46-42B1-8E77-78ACD4EDF336}">
      <dsp:nvSpPr>
        <dsp:cNvPr id="0" name=""/>
        <dsp:cNvSpPr/>
      </dsp:nvSpPr>
      <dsp:spPr>
        <a:xfrm>
          <a:off x="4503754" y="3446293"/>
          <a:ext cx="1850521" cy="105"/>
        </a:xfrm>
        <a:prstGeom prst="rect">
          <a:avLst/>
        </a:prstGeom>
        <a:noFill/>
        <a:ln>
          <a:noFill/>
        </a:ln>
        <a:effectLst/>
      </dsp:spPr>
      <dsp:style>
        <a:lnRef idx="0">
          <a:scrgbClr r="0" g="0" b="0"/>
        </a:lnRef>
        <a:fillRef idx="0">
          <a:scrgbClr r="0" g="0" b="0"/>
        </a:fillRef>
        <a:effectRef idx="0">
          <a:scrgbClr r="0" g="0" b="0"/>
        </a:effectRef>
        <a:fontRef idx="minor"/>
      </dsp:style>
    </dsp:sp>
    <dsp:sp modelId="{22EDB897-057D-4943-9C0C-D817227AD93E}">
      <dsp:nvSpPr>
        <dsp:cNvPr id="0" name=""/>
        <dsp:cNvSpPr/>
      </dsp:nvSpPr>
      <dsp:spPr>
        <a:xfrm>
          <a:off x="6865657" y="591741"/>
          <a:ext cx="648315" cy="6217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82A0F9-2926-4B34-889E-AAB50D67200C}">
      <dsp:nvSpPr>
        <dsp:cNvPr id="0" name=""/>
        <dsp:cNvSpPr/>
      </dsp:nvSpPr>
      <dsp:spPr>
        <a:xfrm>
          <a:off x="6678116" y="1335473"/>
          <a:ext cx="2225603" cy="2054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a:t>Origins</a:t>
          </a:r>
          <a:r>
            <a:rPr lang="en-US" sz="1800" kern="1200"/>
            <a:t>: </a:t>
          </a:r>
        </a:p>
        <a:p>
          <a:pPr marL="0" lvl="0" indent="0" algn="l" defTabSz="800100">
            <a:lnSpc>
              <a:spcPct val="100000"/>
            </a:lnSpc>
            <a:spcBef>
              <a:spcPct val="0"/>
            </a:spcBef>
            <a:spcAft>
              <a:spcPct val="35000"/>
            </a:spcAft>
            <a:buNone/>
            <a:defRPr b="1"/>
          </a:pPr>
          <a:r>
            <a:rPr lang="en-US" sz="1800" b="0" kern="1200"/>
            <a:t>Created via </a:t>
          </a:r>
          <a:r>
            <a:rPr lang="en-US" sz="1800" b="0" kern="1200" err="1"/>
            <a:t>PaySim</a:t>
          </a:r>
          <a:r>
            <a:rPr lang="en-US" sz="1800" b="0" kern="1200"/>
            <a:t>, funded by Sweden’s Knowledge Foundation (Grant: 20140032)</a:t>
          </a:r>
        </a:p>
      </dsp:txBody>
      <dsp:txXfrm>
        <a:off x="6678116" y="1335473"/>
        <a:ext cx="2225603" cy="2054086"/>
      </dsp:txXfrm>
    </dsp:sp>
    <dsp:sp modelId="{8E28CCBE-C9B7-46F3-9D50-81C73F81D3E0}">
      <dsp:nvSpPr>
        <dsp:cNvPr id="0" name=""/>
        <dsp:cNvSpPr/>
      </dsp:nvSpPr>
      <dsp:spPr>
        <a:xfrm>
          <a:off x="6865657" y="3446293"/>
          <a:ext cx="1850521" cy="105"/>
        </a:xfrm>
        <a:prstGeom prst="rect">
          <a:avLst/>
        </a:prstGeom>
        <a:noFill/>
        <a:ln>
          <a:noFill/>
        </a:ln>
        <a:effectLst/>
      </dsp:spPr>
      <dsp:style>
        <a:lnRef idx="0">
          <a:scrgbClr r="0" g="0" b="0"/>
        </a:lnRef>
        <a:fillRef idx="0">
          <a:scrgbClr r="0" g="0" b="0"/>
        </a:fillRef>
        <a:effectRef idx="0">
          <a:scrgbClr r="0" g="0" b="0"/>
        </a:effectRef>
        <a:fontRef idx="minor"/>
      </dsp:style>
    </dsp:sp>
    <dsp:sp modelId="{A8536418-F9A2-4BF6-B634-644CED530FB2}">
      <dsp:nvSpPr>
        <dsp:cNvPr id="0" name=""/>
        <dsp:cNvSpPr/>
      </dsp:nvSpPr>
      <dsp:spPr>
        <a:xfrm>
          <a:off x="9227560" y="591741"/>
          <a:ext cx="648315" cy="62175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49BB02-056B-4929-9976-88D7FE5E86DD}">
      <dsp:nvSpPr>
        <dsp:cNvPr id="0" name=""/>
        <dsp:cNvSpPr/>
      </dsp:nvSpPr>
      <dsp:spPr>
        <a:xfrm>
          <a:off x="9227560" y="1335473"/>
          <a:ext cx="1850521" cy="2054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rtl="0">
            <a:lnSpc>
              <a:spcPct val="100000"/>
            </a:lnSpc>
            <a:spcBef>
              <a:spcPct val="0"/>
            </a:spcBef>
            <a:spcAft>
              <a:spcPct val="35000"/>
            </a:spcAft>
            <a:buNone/>
            <a:defRPr b="1"/>
          </a:pPr>
          <a:r>
            <a:rPr lang="en-US" sz="1800" b="1" kern="1200"/>
            <a:t>Advantages</a:t>
          </a:r>
          <a:r>
            <a:rPr lang="en-US" sz="1800" kern="1200"/>
            <a:t>:</a:t>
          </a:r>
          <a:r>
            <a:rPr lang="en-US" sz="1800" kern="1200">
              <a:latin typeface="Avenir Next LT Pro Light"/>
            </a:rPr>
            <a:t> </a:t>
          </a:r>
          <a:r>
            <a:rPr lang="en-US" sz="1800" b="0" kern="1200"/>
            <a:t>Designed to mimic real-world </a:t>
          </a:r>
          <a:r>
            <a:rPr lang="en-US" sz="1800" b="0" kern="1200">
              <a:latin typeface="Avenir Next LT Pro Light"/>
            </a:rPr>
            <a:t>scenarios. Widely</a:t>
          </a:r>
          <a:r>
            <a:rPr lang="en-US" sz="1800" b="0" kern="1200"/>
            <a:t> used in academic fraud detection studies</a:t>
          </a:r>
          <a:r>
            <a:rPr lang="en-US" sz="1800" kern="1200">
              <a:latin typeface="Avenir Next LT Pro Light"/>
            </a:rPr>
            <a:t>.</a:t>
          </a:r>
          <a:endParaRPr lang="en-US" sz="1800" kern="1200"/>
        </a:p>
      </dsp:txBody>
      <dsp:txXfrm>
        <a:off x="9227560" y="1335473"/>
        <a:ext cx="1850521" cy="2054086"/>
      </dsp:txXfrm>
    </dsp:sp>
    <dsp:sp modelId="{54CA4E3F-5C6D-4C24-813C-3B997C8624EC}">
      <dsp:nvSpPr>
        <dsp:cNvPr id="0" name=""/>
        <dsp:cNvSpPr/>
      </dsp:nvSpPr>
      <dsp:spPr>
        <a:xfrm>
          <a:off x="9227560" y="3446293"/>
          <a:ext cx="1850521" cy="10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B96EC-DFE7-4075-8C76-63CE76B9D391}">
      <dsp:nvSpPr>
        <dsp:cNvPr id="0" name=""/>
        <dsp:cNvSpPr/>
      </dsp:nvSpPr>
      <dsp:spPr>
        <a:xfrm>
          <a:off x="211859" y="476205"/>
          <a:ext cx="1335669" cy="1335669"/>
        </a:xfrm>
        <a:prstGeom prst="ellipse">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3D8BFEC6-62C3-4560-AA1C-11B08E5A1FD1}">
      <dsp:nvSpPr>
        <dsp:cNvPr id="0" name=""/>
        <dsp:cNvSpPr/>
      </dsp:nvSpPr>
      <dsp:spPr>
        <a:xfrm>
          <a:off x="492349" y="756696"/>
          <a:ext cx="774688" cy="77468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DA545F-B3A2-4B41-A2D3-930463BD9509}">
      <dsp:nvSpPr>
        <dsp:cNvPr id="0" name=""/>
        <dsp:cNvSpPr/>
      </dsp:nvSpPr>
      <dsp:spPr>
        <a:xfrm>
          <a:off x="1833743" y="476205"/>
          <a:ext cx="3148363" cy="133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Synthetic Data</a:t>
          </a:r>
        </a:p>
      </dsp:txBody>
      <dsp:txXfrm>
        <a:off x="1833743" y="476205"/>
        <a:ext cx="3148363" cy="1335669"/>
      </dsp:txXfrm>
    </dsp:sp>
    <dsp:sp modelId="{B2325EFE-910D-4D41-8EBB-A0AF1F5F1F6B}">
      <dsp:nvSpPr>
        <dsp:cNvPr id="0" name=""/>
        <dsp:cNvSpPr/>
      </dsp:nvSpPr>
      <dsp:spPr>
        <a:xfrm>
          <a:off x="5508165" y="538902"/>
          <a:ext cx="1335669" cy="1335669"/>
        </a:xfrm>
        <a:prstGeom prst="ellipse">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C13DA563-8F78-458C-AC18-491A07A52A99}">
      <dsp:nvSpPr>
        <dsp:cNvPr id="0" name=""/>
        <dsp:cNvSpPr/>
      </dsp:nvSpPr>
      <dsp:spPr>
        <a:xfrm>
          <a:off x="5811167" y="813488"/>
          <a:ext cx="774688" cy="77468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905B66-2287-4759-99E1-62ED97575E9E}">
      <dsp:nvSpPr>
        <dsp:cNvPr id="0" name=""/>
        <dsp:cNvSpPr/>
      </dsp:nvSpPr>
      <dsp:spPr>
        <a:xfrm>
          <a:off x="7152568" y="476205"/>
          <a:ext cx="3148363" cy="133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Supervised Methods</a:t>
          </a:r>
        </a:p>
      </dsp:txBody>
      <dsp:txXfrm>
        <a:off x="7152568" y="476205"/>
        <a:ext cx="3148363" cy="1335669"/>
      </dsp:txXfrm>
    </dsp:sp>
    <dsp:sp modelId="{7B63C82A-B980-41C1-B550-55A59C78E0C4}">
      <dsp:nvSpPr>
        <dsp:cNvPr id="0" name=""/>
        <dsp:cNvSpPr/>
      </dsp:nvSpPr>
      <dsp:spPr>
        <a:xfrm>
          <a:off x="211859" y="2554088"/>
          <a:ext cx="1335669" cy="1335669"/>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0C3518-ED1F-4C6A-B4DC-E4DCC1AE3FD1}">
      <dsp:nvSpPr>
        <dsp:cNvPr id="0" name=""/>
        <dsp:cNvSpPr/>
      </dsp:nvSpPr>
      <dsp:spPr>
        <a:xfrm>
          <a:off x="492349" y="2834579"/>
          <a:ext cx="774688" cy="77468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805D70-76DE-4DBC-939B-65307A89760D}">
      <dsp:nvSpPr>
        <dsp:cNvPr id="0" name=""/>
        <dsp:cNvSpPr/>
      </dsp:nvSpPr>
      <dsp:spPr>
        <a:xfrm>
          <a:off x="1833743" y="2554088"/>
          <a:ext cx="3148363" cy="133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Monitor Accuracy </a:t>
          </a:r>
        </a:p>
      </dsp:txBody>
      <dsp:txXfrm>
        <a:off x="1833743" y="2554088"/>
        <a:ext cx="3148363" cy="1335669"/>
      </dsp:txXfrm>
    </dsp:sp>
    <dsp:sp modelId="{022EB873-071B-4BAF-8C65-D9341B871B9E}">
      <dsp:nvSpPr>
        <dsp:cNvPr id="0" name=""/>
        <dsp:cNvSpPr/>
      </dsp:nvSpPr>
      <dsp:spPr>
        <a:xfrm>
          <a:off x="5530684" y="2554088"/>
          <a:ext cx="1335669" cy="1335669"/>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7E9F87-285F-4066-96DE-93803B850BBA}">
      <dsp:nvSpPr>
        <dsp:cNvPr id="0" name=""/>
        <dsp:cNvSpPr/>
      </dsp:nvSpPr>
      <dsp:spPr>
        <a:xfrm>
          <a:off x="5828210" y="2829939"/>
          <a:ext cx="774688" cy="77468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926539-77CA-44BB-B14E-28165196F65C}">
      <dsp:nvSpPr>
        <dsp:cNvPr id="0" name=""/>
        <dsp:cNvSpPr/>
      </dsp:nvSpPr>
      <dsp:spPr>
        <a:xfrm>
          <a:off x="7152568" y="2554088"/>
          <a:ext cx="3148363" cy="133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Bias</a:t>
          </a:r>
        </a:p>
      </dsp:txBody>
      <dsp:txXfrm>
        <a:off x="7152568" y="2554088"/>
        <a:ext cx="3148363" cy="133566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02574-D529-4D65-B6F6-40149B7CA3AE}"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74F865-5EE1-4AC3-B7C0-2D878F4AFE78}" type="slidenum">
              <a:rPr lang="en-US" smtClean="0"/>
              <a:t>‹#›</a:t>
            </a:fld>
            <a:endParaRPr lang="en-US"/>
          </a:p>
        </p:txBody>
      </p:sp>
    </p:spTree>
    <p:extLst>
      <p:ext uri="{BB962C8B-B14F-4D97-AF65-F5344CB8AC3E}">
        <p14:creationId xmlns:p14="http://schemas.microsoft.com/office/powerpoint/2010/main" val="97487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Title</a:t>
            </a:r>
          </a:p>
          <a:p>
            <a:r>
              <a:rPr lang="en-US"/>
              <a:t>Presenter: All</a:t>
            </a:r>
          </a:p>
          <a:p>
            <a:r>
              <a:rPr lang="en-US"/>
              <a:t>Time:</a:t>
            </a:r>
          </a:p>
          <a:p>
            <a:endParaRPr lang="en-US"/>
          </a:p>
          <a:p>
            <a:r>
              <a:rPr lang="en-US"/>
              <a:t>We ended at 12:16</a:t>
            </a:r>
          </a:p>
        </p:txBody>
      </p:sp>
      <p:sp>
        <p:nvSpPr>
          <p:cNvPr id="4" name="Slide Number Placeholder 3"/>
          <p:cNvSpPr>
            <a:spLocks noGrp="1"/>
          </p:cNvSpPr>
          <p:nvPr>
            <p:ph type="sldNum" sz="quarter" idx="5"/>
          </p:nvPr>
        </p:nvSpPr>
        <p:spPr/>
        <p:txBody>
          <a:bodyPr/>
          <a:lstStyle/>
          <a:p>
            <a:fld id="{BD74F865-5EE1-4AC3-B7C0-2D878F4AFE78}" type="slidenum">
              <a:rPr lang="en-US" smtClean="0"/>
              <a:t>1</a:t>
            </a:fld>
            <a:endParaRPr lang="en-US"/>
          </a:p>
        </p:txBody>
      </p:sp>
    </p:spTree>
    <p:extLst>
      <p:ext uri="{BB962C8B-B14F-4D97-AF65-F5344CB8AC3E}">
        <p14:creationId xmlns:p14="http://schemas.microsoft.com/office/powerpoint/2010/main" val="301470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Introduction</a:t>
            </a:r>
          </a:p>
          <a:p>
            <a:r>
              <a:rPr lang="en-US" dirty="0"/>
              <a:t>Presenter: Justin</a:t>
            </a:r>
          </a:p>
          <a:p>
            <a:r>
              <a:rPr lang="en-US" dirty="0"/>
              <a:t>Time:1:38, 1:05</a:t>
            </a:r>
          </a:p>
          <a:p>
            <a:r>
              <a:rPr lang="en-US" dirty="0"/>
              <a:t>Fraudulent transactions cause huge financial looses to </a:t>
            </a:r>
            <a:r>
              <a:rPr lang="en-US" dirty="0" err="1"/>
              <a:t>buinesses</a:t>
            </a:r>
            <a:r>
              <a:rPr lang="en-US" dirty="0"/>
              <a:t>, exposure of customers’ personal data, damage in consumer trust and a strain on the broader economy. In response, Stronger security measures have been put </a:t>
            </a:r>
            <a:r>
              <a:rPr lang="en-US"/>
              <a:t>in place. </a:t>
            </a:r>
            <a:r>
              <a:rPr lang="en-US" dirty="0"/>
              <a:t>However, these can interrupt the intentional convenience of the banking services. To have security with minimal disruptions, the banking industry is increasingly turning to machine learning and AI solutions. In this project, we sought out to improve upon the Machine Learning Models, which brings us to our dataset.</a:t>
            </a:r>
          </a:p>
          <a:p>
            <a:endParaRPr lang="en-US" dirty="0"/>
          </a:p>
        </p:txBody>
      </p:sp>
      <p:sp>
        <p:nvSpPr>
          <p:cNvPr id="4" name="Slide Number Placeholder 3"/>
          <p:cNvSpPr>
            <a:spLocks noGrp="1"/>
          </p:cNvSpPr>
          <p:nvPr>
            <p:ph type="sldNum" sz="quarter" idx="5"/>
          </p:nvPr>
        </p:nvSpPr>
        <p:spPr/>
        <p:txBody>
          <a:bodyPr/>
          <a:lstStyle/>
          <a:p>
            <a:fld id="{BD74F865-5EE1-4AC3-B7C0-2D878F4AFE78}" type="slidenum">
              <a:rPr lang="en-US" smtClean="0"/>
              <a:t>2</a:t>
            </a:fld>
            <a:endParaRPr lang="en-US"/>
          </a:p>
        </p:txBody>
      </p:sp>
    </p:spTree>
    <p:extLst>
      <p:ext uri="{BB962C8B-B14F-4D97-AF65-F5344CB8AC3E}">
        <p14:creationId xmlns:p14="http://schemas.microsoft.com/office/powerpoint/2010/main" val="186916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Data</a:t>
            </a:r>
          </a:p>
          <a:p>
            <a:r>
              <a:rPr lang="en-US"/>
              <a:t>Presenter: Justin</a:t>
            </a:r>
          </a:p>
          <a:p>
            <a:r>
              <a:rPr lang="en-US"/>
              <a:t>Time: 1:10, :40</a:t>
            </a:r>
          </a:p>
          <a:p>
            <a:endParaRPr lang="en-US"/>
          </a:p>
          <a:p>
            <a:r>
              <a:rPr lang="en-US"/>
              <a:t>We choose a synthetic dataset from Kaggle to avoid the encrypted attributes of a real world, public dataset and therefore mimic the data access of ML developers in the industry. This is a mildly large dataset containing 1M synthetic transactions with 11 features. Data was developed by </a:t>
            </a:r>
            <a:r>
              <a:rPr lang="en-US" err="1"/>
              <a:t>PaySim</a:t>
            </a:r>
            <a:r>
              <a:rPr lang="en-US"/>
              <a:t>, funded by Sweden’s Knowledge and has been widely used in academic studies.  </a:t>
            </a:r>
          </a:p>
        </p:txBody>
      </p:sp>
      <p:sp>
        <p:nvSpPr>
          <p:cNvPr id="4" name="Slide Number Placeholder 3"/>
          <p:cNvSpPr>
            <a:spLocks noGrp="1"/>
          </p:cNvSpPr>
          <p:nvPr>
            <p:ph type="sldNum" sz="quarter" idx="5"/>
          </p:nvPr>
        </p:nvSpPr>
        <p:spPr/>
        <p:txBody>
          <a:bodyPr/>
          <a:lstStyle/>
          <a:p>
            <a:fld id="{BD74F865-5EE1-4AC3-B7C0-2D878F4AFE78}" type="slidenum">
              <a:rPr lang="en-US" smtClean="0"/>
              <a:t>3</a:t>
            </a:fld>
            <a:endParaRPr lang="en-US"/>
          </a:p>
        </p:txBody>
      </p:sp>
    </p:spTree>
    <p:extLst>
      <p:ext uri="{BB962C8B-B14F-4D97-AF65-F5344CB8AC3E}">
        <p14:creationId xmlns:p14="http://schemas.microsoft.com/office/powerpoint/2010/main" val="1970909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Data</a:t>
            </a:r>
          </a:p>
          <a:p>
            <a:r>
              <a:rPr lang="en-US" dirty="0"/>
              <a:t>Presenter: Justin</a:t>
            </a:r>
          </a:p>
          <a:p>
            <a:r>
              <a:rPr lang="en-US" dirty="0"/>
              <a:t>Time:2:11, 1:04</a:t>
            </a:r>
          </a:p>
          <a:p>
            <a:r>
              <a:rPr lang="en-US" dirty="0"/>
              <a:t>As you see on the top left, we have several types of transactions. Below are some descriptive statistics of some of the features in our data. The </a:t>
            </a:r>
            <a:r>
              <a:rPr lang="en-US" dirty="0" err="1"/>
              <a:t>step,an</a:t>
            </a:r>
            <a:r>
              <a:rPr lang="en-US" dirty="0"/>
              <a:t> increment of time, the old balance Original, the new balance.  Fraud is a binary column, which approaches  mean approaches zero, which implies most transactions are not fraud.</a:t>
            </a:r>
          </a:p>
        </p:txBody>
      </p:sp>
      <p:sp>
        <p:nvSpPr>
          <p:cNvPr id="4" name="Slide Number Placeholder 3"/>
          <p:cNvSpPr>
            <a:spLocks noGrp="1"/>
          </p:cNvSpPr>
          <p:nvPr>
            <p:ph type="sldNum" sz="quarter" idx="5"/>
          </p:nvPr>
        </p:nvSpPr>
        <p:spPr/>
        <p:txBody>
          <a:bodyPr/>
          <a:lstStyle/>
          <a:p>
            <a:fld id="{BD74F865-5EE1-4AC3-B7C0-2D878F4AFE78}" type="slidenum">
              <a:rPr lang="en-US" smtClean="0"/>
              <a:t>4</a:t>
            </a:fld>
            <a:endParaRPr lang="en-US"/>
          </a:p>
        </p:txBody>
      </p:sp>
    </p:spTree>
    <p:extLst>
      <p:ext uri="{BB962C8B-B14F-4D97-AF65-F5344CB8AC3E}">
        <p14:creationId xmlns:p14="http://schemas.microsoft.com/office/powerpoint/2010/main" val="918388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Methods</a:t>
            </a:r>
          </a:p>
          <a:p>
            <a:r>
              <a:rPr lang="en-US"/>
              <a:t>Presenter: Samuel</a:t>
            </a:r>
          </a:p>
          <a:p>
            <a:r>
              <a:rPr lang="en-US"/>
              <a:t>Time: 1:15</a:t>
            </a:r>
          </a:p>
          <a:p>
            <a:endParaRPr lang="en-US"/>
          </a:p>
        </p:txBody>
      </p:sp>
      <p:sp>
        <p:nvSpPr>
          <p:cNvPr id="4" name="Slide Number Placeholder 3"/>
          <p:cNvSpPr>
            <a:spLocks noGrp="1"/>
          </p:cNvSpPr>
          <p:nvPr>
            <p:ph type="sldNum" sz="quarter" idx="5"/>
          </p:nvPr>
        </p:nvSpPr>
        <p:spPr/>
        <p:txBody>
          <a:bodyPr/>
          <a:lstStyle/>
          <a:p>
            <a:fld id="{BD74F865-5EE1-4AC3-B7C0-2D878F4AFE78}" type="slidenum">
              <a:rPr lang="en-US" smtClean="0"/>
              <a:t>5</a:t>
            </a:fld>
            <a:endParaRPr lang="en-US"/>
          </a:p>
        </p:txBody>
      </p:sp>
    </p:spTree>
    <p:extLst>
      <p:ext uri="{BB962C8B-B14F-4D97-AF65-F5344CB8AC3E}">
        <p14:creationId xmlns:p14="http://schemas.microsoft.com/office/powerpoint/2010/main" val="2343081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Results</a:t>
            </a:r>
          </a:p>
          <a:p>
            <a:r>
              <a:rPr lang="en-US" dirty="0"/>
              <a:t>Presenter: Samuel</a:t>
            </a:r>
          </a:p>
          <a:p>
            <a:r>
              <a:rPr lang="en-US" dirty="0"/>
              <a:t>Time: 2:20, 1:</a:t>
            </a:r>
          </a:p>
          <a:p>
            <a:endParaRPr lang="en-US" dirty="0"/>
          </a:p>
        </p:txBody>
      </p:sp>
      <p:sp>
        <p:nvSpPr>
          <p:cNvPr id="4" name="Slide Number Placeholder 3"/>
          <p:cNvSpPr>
            <a:spLocks noGrp="1"/>
          </p:cNvSpPr>
          <p:nvPr>
            <p:ph type="sldNum" sz="quarter" idx="5"/>
          </p:nvPr>
        </p:nvSpPr>
        <p:spPr/>
        <p:txBody>
          <a:bodyPr/>
          <a:lstStyle/>
          <a:p>
            <a:fld id="{BD74F865-5EE1-4AC3-B7C0-2D878F4AFE78}" type="slidenum">
              <a:rPr lang="en-US" smtClean="0"/>
              <a:t>6</a:t>
            </a:fld>
            <a:endParaRPr lang="en-US"/>
          </a:p>
        </p:txBody>
      </p:sp>
    </p:spTree>
    <p:extLst>
      <p:ext uri="{BB962C8B-B14F-4D97-AF65-F5344CB8AC3E}">
        <p14:creationId xmlns:p14="http://schemas.microsoft.com/office/powerpoint/2010/main" val="169222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Discussion</a:t>
            </a:r>
          </a:p>
          <a:p>
            <a:r>
              <a:rPr lang="en-US"/>
              <a:t>Presenter: Erika</a:t>
            </a:r>
          </a:p>
          <a:p>
            <a:r>
              <a:rPr lang="en-US"/>
              <a:t>Time: .5 min</a:t>
            </a:r>
          </a:p>
          <a:p>
            <a:r>
              <a:rPr lang="en-US"/>
              <a:t>48 sec, “37</a:t>
            </a:r>
          </a:p>
          <a:p>
            <a:endParaRPr lang="en-US"/>
          </a:p>
          <a:p>
            <a:endParaRPr lang="en-US"/>
          </a:p>
        </p:txBody>
      </p:sp>
      <p:sp>
        <p:nvSpPr>
          <p:cNvPr id="4" name="Slide Number Placeholder 3"/>
          <p:cNvSpPr>
            <a:spLocks noGrp="1"/>
          </p:cNvSpPr>
          <p:nvPr>
            <p:ph type="sldNum" sz="quarter" idx="5"/>
          </p:nvPr>
        </p:nvSpPr>
        <p:spPr/>
        <p:txBody>
          <a:bodyPr/>
          <a:lstStyle/>
          <a:p>
            <a:fld id="{BD74F865-5EE1-4AC3-B7C0-2D878F4AFE78}" type="slidenum">
              <a:rPr lang="en-US" smtClean="0"/>
              <a:t>7</a:t>
            </a:fld>
            <a:endParaRPr lang="en-US"/>
          </a:p>
        </p:txBody>
      </p:sp>
    </p:spTree>
    <p:extLst>
      <p:ext uri="{BB962C8B-B14F-4D97-AF65-F5344CB8AC3E}">
        <p14:creationId xmlns:p14="http://schemas.microsoft.com/office/powerpoint/2010/main" val="3112244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Future work</a:t>
            </a:r>
          </a:p>
          <a:p>
            <a:r>
              <a:rPr lang="en-US"/>
              <a:t>Presenter: Erika</a:t>
            </a:r>
          </a:p>
          <a:p>
            <a:r>
              <a:rPr lang="en-US"/>
              <a:t>Time: .5 min</a:t>
            </a:r>
          </a:p>
          <a:p>
            <a:r>
              <a:rPr lang="en-US"/>
              <a:t>1:30, 1:09</a:t>
            </a:r>
          </a:p>
        </p:txBody>
      </p:sp>
      <p:sp>
        <p:nvSpPr>
          <p:cNvPr id="4" name="Slide Number Placeholder 3"/>
          <p:cNvSpPr>
            <a:spLocks noGrp="1"/>
          </p:cNvSpPr>
          <p:nvPr>
            <p:ph type="sldNum" sz="quarter" idx="5"/>
          </p:nvPr>
        </p:nvSpPr>
        <p:spPr/>
        <p:txBody>
          <a:bodyPr/>
          <a:lstStyle/>
          <a:p>
            <a:fld id="{BD74F865-5EE1-4AC3-B7C0-2D878F4AFE78}" type="slidenum">
              <a:rPr lang="en-US" smtClean="0"/>
              <a:t>8</a:t>
            </a:fld>
            <a:endParaRPr lang="en-US"/>
          </a:p>
        </p:txBody>
      </p:sp>
    </p:spTree>
    <p:extLst>
      <p:ext uri="{BB962C8B-B14F-4D97-AF65-F5344CB8AC3E}">
        <p14:creationId xmlns:p14="http://schemas.microsoft.com/office/powerpoint/2010/main" val="3890521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D78FD-FBB2-D47A-5D37-AC228BFA6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C52BF-28DB-573A-BD00-7E6185F42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9A381-9F3D-4FF7-4490-80DE50E47483}"/>
              </a:ext>
            </a:extLst>
          </p:cNvPr>
          <p:cNvSpPr>
            <a:spLocks noGrp="1"/>
          </p:cNvSpPr>
          <p:nvPr>
            <p:ph type="body" idx="1"/>
          </p:nvPr>
        </p:nvSpPr>
        <p:spPr/>
        <p:txBody>
          <a:bodyPr/>
          <a:lstStyle/>
          <a:p>
            <a:r>
              <a:rPr lang="en-US"/>
              <a:t>Slide: Title</a:t>
            </a:r>
          </a:p>
          <a:p>
            <a:r>
              <a:rPr lang="en-US"/>
              <a:t>Presenter: All</a:t>
            </a:r>
          </a:p>
          <a:p>
            <a:r>
              <a:rPr lang="en-US"/>
              <a:t>Time:</a:t>
            </a:r>
          </a:p>
          <a:p>
            <a:endParaRPr lang="en-US"/>
          </a:p>
          <a:p>
            <a:r>
              <a:rPr lang="en-US"/>
              <a:t>We ended at 12:16</a:t>
            </a:r>
          </a:p>
        </p:txBody>
      </p:sp>
      <p:sp>
        <p:nvSpPr>
          <p:cNvPr id="4" name="Slide Number Placeholder 3">
            <a:extLst>
              <a:ext uri="{FF2B5EF4-FFF2-40B4-BE49-F238E27FC236}">
                <a16:creationId xmlns:a16="http://schemas.microsoft.com/office/drawing/2014/main" id="{D3CA6F44-FACD-2CD8-B608-9972B2D2CFBF}"/>
              </a:ext>
            </a:extLst>
          </p:cNvPr>
          <p:cNvSpPr>
            <a:spLocks noGrp="1"/>
          </p:cNvSpPr>
          <p:nvPr>
            <p:ph type="sldNum" sz="quarter" idx="5"/>
          </p:nvPr>
        </p:nvSpPr>
        <p:spPr/>
        <p:txBody>
          <a:bodyPr/>
          <a:lstStyle/>
          <a:p>
            <a:fld id="{BD74F865-5EE1-4AC3-B7C0-2D878F4AFE78}" type="slidenum">
              <a:rPr lang="en-US" smtClean="0"/>
              <a:t>9</a:t>
            </a:fld>
            <a:endParaRPr lang="en-US"/>
          </a:p>
        </p:txBody>
      </p:sp>
    </p:spTree>
    <p:extLst>
      <p:ext uri="{BB962C8B-B14F-4D97-AF65-F5344CB8AC3E}">
        <p14:creationId xmlns:p14="http://schemas.microsoft.com/office/powerpoint/2010/main" val="1795242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8924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166872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010349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625050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679914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26857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604000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16304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328768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40981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3984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12/10/2025</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01806321"/>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9" r:id="rId6"/>
    <p:sldLayoutId id="2147483704" r:id="rId7"/>
    <p:sldLayoutId id="2147483705" r:id="rId8"/>
    <p:sldLayoutId id="2147483706" r:id="rId9"/>
    <p:sldLayoutId id="2147483708" r:id="rId10"/>
    <p:sldLayoutId id="2147483707"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sv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stack of bank cards">
            <a:extLst>
              <a:ext uri="{FF2B5EF4-FFF2-40B4-BE49-F238E27FC236}">
                <a16:creationId xmlns:a16="http://schemas.microsoft.com/office/drawing/2014/main" id="{FDD5AFAD-6B55-E219-8ACF-323D08590A05}"/>
              </a:ext>
            </a:extLst>
          </p:cNvPr>
          <p:cNvPicPr>
            <a:picLocks noChangeAspect="1"/>
          </p:cNvPicPr>
          <p:nvPr/>
        </p:nvPicPr>
        <p:blipFill>
          <a:blip r:embed="rId3">
            <a:alphaModFix amt="50000"/>
          </a:blip>
          <a:srcRect t="5617" b="10427"/>
          <a:stretch/>
        </p:blipFill>
        <p:spPr>
          <a:xfrm>
            <a:off x="20" y="10"/>
            <a:ext cx="12191979" cy="6857989"/>
          </a:xfrm>
          <a:prstGeom prst="rect">
            <a:avLst/>
          </a:prstGeom>
        </p:spPr>
      </p:pic>
      <p:sp>
        <p:nvSpPr>
          <p:cNvPr id="2" name="Title 1">
            <a:extLst>
              <a:ext uri="{FF2B5EF4-FFF2-40B4-BE49-F238E27FC236}">
                <a16:creationId xmlns:a16="http://schemas.microsoft.com/office/drawing/2014/main" id="{E90C0EBE-7619-9A69-9654-1DBE32E98191}"/>
              </a:ext>
            </a:extLst>
          </p:cNvPr>
          <p:cNvSpPr>
            <a:spLocks noGrp="1"/>
          </p:cNvSpPr>
          <p:nvPr>
            <p:ph type="ctrTitle"/>
          </p:nvPr>
        </p:nvSpPr>
        <p:spPr>
          <a:xfrm>
            <a:off x="4426526" y="1261872"/>
            <a:ext cx="7279885" cy="2852928"/>
          </a:xfrm>
        </p:spPr>
        <p:txBody>
          <a:bodyPr>
            <a:normAutofit/>
          </a:bodyPr>
          <a:lstStyle/>
          <a:p>
            <a:pPr algn="r">
              <a:lnSpc>
                <a:spcPct val="120000"/>
              </a:lnSpc>
            </a:pPr>
            <a:r>
              <a:rPr lang="en-US">
                <a:solidFill>
                  <a:srgbClr val="FFFFFF"/>
                </a:solidFill>
              </a:rPr>
              <a:t>Financial Fraud Prediction</a:t>
            </a:r>
          </a:p>
        </p:txBody>
      </p:sp>
      <p:sp>
        <p:nvSpPr>
          <p:cNvPr id="3" name="Subtitle 2">
            <a:extLst>
              <a:ext uri="{FF2B5EF4-FFF2-40B4-BE49-F238E27FC236}">
                <a16:creationId xmlns:a16="http://schemas.microsoft.com/office/drawing/2014/main" id="{177E27F7-E7A6-7527-5B18-D50FA612CA93}"/>
              </a:ext>
            </a:extLst>
          </p:cNvPr>
          <p:cNvSpPr>
            <a:spLocks noGrp="1"/>
          </p:cNvSpPr>
          <p:nvPr>
            <p:ph type="subTitle" idx="1"/>
          </p:nvPr>
        </p:nvSpPr>
        <p:spPr>
          <a:xfrm>
            <a:off x="4779818" y="4681728"/>
            <a:ext cx="6902550" cy="929296"/>
          </a:xfrm>
        </p:spPr>
        <p:txBody>
          <a:bodyPr>
            <a:normAutofit/>
          </a:bodyPr>
          <a:lstStyle/>
          <a:p>
            <a:pPr algn="r"/>
            <a:r>
              <a:rPr lang="en-US" dirty="0">
                <a:solidFill>
                  <a:srgbClr val="FFFFFF"/>
                </a:solidFill>
              </a:rPr>
              <a:t>IST 707 Group Presentation </a:t>
            </a:r>
          </a:p>
          <a:p>
            <a:pPr algn="r"/>
            <a:r>
              <a:rPr lang="en-US" dirty="0" err="1">
                <a:solidFill>
                  <a:srgbClr val="FFFFFF"/>
                </a:solidFill>
              </a:rPr>
              <a:t>Remp</a:t>
            </a:r>
            <a:r>
              <a:rPr lang="en-US" dirty="0">
                <a:solidFill>
                  <a:srgbClr val="FFFFFF"/>
                </a:solidFill>
              </a:rPr>
              <a:t> | Forkert | Haase </a:t>
            </a:r>
          </a:p>
        </p:txBody>
      </p:sp>
      <p:sp>
        <p:nvSpPr>
          <p:cNvPr id="38" name="Rectangle 37">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4">
              <a:alphaModFix amt="99000"/>
              <a:extLst>
                <a:ext uri="{96DAC541-7B7A-43D3-8B79-37D633B846F1}">
                  <asvg:svgBlip xmlns:asvg="http://schemas.microsoft.com/office/drawing/2016/SVG/main" r:embed="rId5"/>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389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78BE-5DC3-8A66-3AF3-F444FF067797}"/>
              </a:ext>
            </a:extLst>
          </p:cNvPr>
          <p:cNvSpPr>
            <a:spLocks noGrp="1"/>
          </p:cNvSpPr>
          <p:nvPr>
            <p:ph type="title"/>
          </p:nvPr>
        </p:nvSpPr>
        <p:spPr/>
        <p:txBody>
          <a:bodyPr/>
          <a:lstStyle/>
          <a:p>
            <a:r>
              <a:rPr lang="en-US"/>
              <a:t>Introduction</a:t>
            </a:r>
          </a:p>
        </p:txBody>
      </p:sp>
      <p:sp>
        <p:nvSpPr>
          <p:cNvPr id="4" name="TextBox 3">
            <a:extLst>
              <a:ext uri="{FF2B5EF4-FFF2-40B4-BE49-F238E27FC236}">
                <a16:creationId xmlns:a16="http://schemas.microsoft.com/office/drawing/2014/main" id="{BAE6D14B-3097-7AF3-9DB2-7909CDF3D510}"/>
              </a:ext>
            </a:extLst>
          </p:cNvPr>
          <p:cNvSpPr txBox="1"/>
          <p:nvPr/>
        </p:nvSpPr>
        <p:spPr>
          <a:xfrm>
            <a:off x="800100" y="2370667"/>
            <a:ext cx="10094770" cy="4801314"/>
          </a:xfrm>
          <a:prstGeom prst="rect">
            <a:avLst/>
          </a:prstGeom>
          <a:noFill/>
        </p:spPr>
        <p:txBody>
          <a:bodyPr wrap="square" lIns="91440" tIns="45720" rIns="91440" bIns="45720" anchor="t">
            <a:spAutoFit/>
          </a:bodyPr>
          <a:lstStyle/>
          <a:p>
            <a:pPr marL="285750" indent="-285750">
              <a:buFont typeface="Arial"/>
              <a:buChar char="•"/>
            </a:pPr>
            <a:r>
              <a:rPr lang="en-US" b="1" kern="100">
                <a:ea typeface="+mn-lt"/>
                <a:cs typeface="+mn-lt"/>
              </a:rPr>
              <a:t>The Threat of Fraud in Banking</a:t>
            </a:r>
            <a:r>
              <a:rPr lang="en-US" kern="100">
                <a:ea typeface="+mn-lt"/>
                <a:cs typeface="+mn-lt"/>
              </a:rPr>
              <a:t>: Fraudulent transactions lead to financial losses, inefficiencies, and diminished consumer trust, impacting individuals, businesses, and the broader economy.</a:t>
            </a:r>
          </a:p>
          <a:p>
            <a:endParaRPr lang="en-US"/>
          </a:p>
          <a:p>
            <a:pPr marL="285750" indent="-285750">
              <a:buFont typeface="Arial"/>
              <a:buChar char="•"/>
            </a:pPr>
            <a:r>
              <a:rPr lang="en-US" b="1" kern="100">
                <a:ea typeface="+mn-lt"/>
                <a:cs typeface="+mn-lt"/>
              </a:rPr>
              <a:t>Consumer and Business Impact</a:t>
            </a:r>
            <a:r>
              <a:rPr lang="en-US" kern="100">
                <a:ea typeface="+mn-lt"/>
                <a:cs typeface="+mn-lt"/>
              </a:rPr>
              <a:t>: Customers risk compromised personal and financial data, while businesses face increased costs from chargebacks, lost inventory, and heightened security protocols.</a:t>
            </a:r>
          </a:p>
          <a:p>
            <a:endParaRPr lang="en-US"/>
          </a:p>
          <a:p>
            <a:pPr marL="285750" indent="-285750">
              <a:buFont typeface="Arial"/>
              <a:buChar char="•"/>
            </a:pPr>
            <a:r>
              <a:rPr lang="en-US" b="1" kern="100">
                <a:ea typeface="+mn-lt"/>
                <a:cs typeface="+mn-lt"/>
              </a:rPr>
              <a:t>Stricter Security Measures</a:t>
            </a:r>
            <a:r>
              <a:rPr lang="en-US" kern="100">
                <a:ea typeface="+mn-lt"/>
                <a:cs typeface="+mn-lt"/>
              </a:rPr>
              <a:t>: Persistent fraud results in more stringent and potentially inconvenient banking security processes for everyone.</a:t>
            </a:r>
          </a:p>
          <a:p>
            <a:endParaRPr lang="en-US"/>
          </a:p>
          <a:p>
            <a:pPr marL="285750" indent="-285750">
              <a:buFont typeface="Arial"/>
              <a:buChar char="•"/>
            </a:pPr>
            <a:r>
              <a:rPr lang="en-US" b="1" kern="100">
                <a:ea typeface="+mn-lt"/>
                <a:cs typeface="+mn-lt"/>
              </a:rPr>
              <a:t>Advancing Fraud Detection with ML/AI</a:t>
            </a:r>
            <a:r>
              <a:rPr lang="en-US" kern="100">
                <a:ea typeface="+mn-lt"/>
                <a:cs typeface="+mn-lt"/>
              </a:rPr>
              <a:t>: The banking industry is adopting machine learning (ML) and artificial intelligence (AI) technologies to enhance fraud detection and prevention systems.</a:t>
            </a:r>
            <a:endParaRPr lang="en-US"/>
          </a:p>
          <a:p>
            <a:endParaRPr lang="en-US" kern="100"/>
          </a:p>
          <a:p>
            <a:endParaRPr lang="en-US" sz="1800" kern="100">
              <a:latin typeface="Times New Roman"/>
              <a:ea typeface="Calibri"/>
              <a:cs typeface="Arial"/>
            </a:endParaRPr>
          </a:p>
          <a:p>
            <a:endParaRPr lang="en-US"/>
          </a:p>
        </p:txBody>
      </p:sp>
    </p:spTree>
    <p:extLst>
      <p:ext uri="{BB962C8B-B14F-4D97-AF65-F5344CB8AC3E}">
        <p14:creationId xmlns:p14="http://schemas.microsoft.com/office/powerpoint/2010/main" val="155375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6ECC43-D65E-4A7B-A76B-D278A21841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11626076" y="3551521"/>
            <a:ext cx="567782" cy="3306479"/>
            <a:chOff x="11619770" y="-2005"/>
            <a:chExt cx="567782" cy="3306479"/>
          </a:xfrm>
        </p:grpSpPr>
        <p:sp>
          <p:nvSpPr>
            <p:cNvPr id="10" name="Freeform: Shape 9">
              <a:extLst>
                <a:ext uri="{FF2B5EF4-FFF2-40B4-BE49-F238E27FC236}">
                  <a16:creationId xmlns:a16="http://schemas.microsoft.com/office/drawing/2014/main" id="{7EE443C5-5AB9-407B-A8C3-011BB14FE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3" name="Rectangle 12">
            <a:extLst>
              <a:ext uri="{FF2B5EF4-FFF2-40B4-BE49-F238E27FC236}">
                <a16:creationId xmlns:a16="http://schemas.microsoft.com/office/drawing/2014/main" id="{FF28492A-DDDF-4C12-AE60-3EA02D8D2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063DF58-06E6-4ED6-947D-1490C2F71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404030" y="-5378272"/>
            <a:ext cx="1409700" cy="12192003"/>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0CC9908-2444-54C8-81EA-B476F5FAF4E9}"/>
              </a:ext>
            </a:extLst>
          </p:cNvPr>
          <p:cNvSpPr>
            <a:spLocks noGrp="1"/>
          </p:cNvSpPr>
          <p:nvPr>
            <p:ph type="title"/>
          </p:nvPr>
        </p:nvSpPr>
        <p:spPr>
          <a:xfrm>
            <a:off x="965750" y="517186"/>
            <a:ext cx="10282725" cy="1281181"/>
          </a:xfrm>
          <a:solidFill>
            <a:schemeClr val="accent1">
              <a:lumMod val="20000"/>
              <a:lumOff val="80000"/>
            </a:schemeClr>
          </a:solidFill>
          <a:effectLst>
            <a:outerShdw dist="190500" dir="2700000" algn="tr" rotWithShape="0">
              <a:schemeClr val="tx1"/>
            </a:outerShdw>
          </a:effectLst>
        </p:spPr>
        <p:txBody>
          <a:bodyPr vert="horz" lIns="91440" tIns="45720" rIns="91440" bIns="45720" rtlCol="0" anchor="ctr">
            <a:normAutofit/>
          </a:bodyPr>
          <a:lstStyle/>
          <a:p>
            <a:r>
              <a:rPr lang="en-US">
                <a:solidFill>
                  <a:srgbClr val="000000"/>
                </a:solidFill>
              </a:rPr>
              <a:t>Data</a:t>
            </a:r>
          </a:p>
        </p:txBody>
      </p:sp>
      <p:graphicFrame>
        <p:nvGraphicFramePr>
          <p:cNvPr id="5" name="TextBox 2">
            <a:extLst>
              <a:ext uri="{FF2B5EF4-FFF2-40B4-BE49-F238E27FC236}">
                <a16:creationId xmlns:a16="http://schemas.microsoft.com/office/drawing/2014/main" id="{2FAFA134-6F43-80B1-2EC1-730C7C197084}"/>
              </a:ext>
            </a:extLst>
          </p:cNvPr>
          <p:cNvGraphicFramePr/>
          <p:nvPr>
            <p:extLst>
              <p:ext uri="{D42A27DB-BD31-4B8C-83A1-F6EECF244321}">
                <p14:modId xmlns:p14="http://schemas.microsoft.com/office/powerpoint/2010/main" val="366716940"/>
              </p:ext>
            </p:extLst>
          </p:nvPr>
        </p:nvGraphicFramePr>
        <p:xfrm>
          <a:off x="648929" y="2302674"/>
          <a:ext cx="11090788" cy="403814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11840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29" name="Freeform: Shape 28">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2" name="Rectangle 31">
            <a:extLst>
              <a:ext uri="{FF2B5EF4-FFF2-40B4-BE49-F238E27FC236}">
                <a16:creationId xmlns:a16="http://schemas.microsoft.com/office/drawing/2014/main" id="{A599224A-F219-4DF9-8183-F7C098A5C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580317-6567-9D1C-4418-C679E36F4D41}"/>
              </a:ext>
            </a:extLst>
          </p:cNvPr>
          <p:cNvSpPr>
            <a:spLocks noGrp="1"/>
          </p:cNvSpPr>
          <p:nvPr>
            <p:ph type="title"/>
          </p:nvPr>
        </p:nvSpPr>
        <p:spPr>
          <a:xfrm>
            <a:off x="0" y="0"/>
            <a:ext cx="8514316" cy="923132"/>
          </a:xfrm>
        </p:spPr>
        <p:txBody>
          <a:bodyPr vert="horz" lIns="91440" tIns="45720" rIns="91440" bIns="45720" rtlCol="0" anchor="b">
            <a:normAutofit/>
          </a:bodyPr>
          <a:lstStyle/>
          <a:p>
            <a:pPr algn="ctr">
              <a:lnSpc>
                <a:spcPct val="130000"/>
              </a:lnSpc>
            </a:pPr>
            <a:r>
              <a:rPr lang="en-US" sz="3000" spc="1300">
                <a:solidFill>
                  <a:srgbClr val="000000"/>
                </a:solidFill>
              </a:rPr>
              <a:t>Data Breakdown</a:t>
            </a:r>
          </a:p>
        </p:txBody>
      </p:sp>
      <p:pic>
        <p:nvPicPr>
          <p:cNvPr id="12" name="Picture 11" descr="A graph of different colored bars&#10;&#10;Description automatically generated">
            <a:extLst>
              <a:ext uri="{FF2B5EF4-FFF2-40B4-BE49-F238E27FC236}">
                <a16:creationId xmlns:a16="http://schemas.microsoft.com/office/drawing/2014/main" id="{7B5A4492-0DAB-0EA0-06C5-38C0E20588EA}"/>
              </a:ext>
            </a:extLst>
          </p:cNvPr>
          <p:cNvPicPr>
            <a:picLocks noChangeAspect="1"/>
          </p:cNvPicPr>
          <p:nvPr/>
        </p:nvPicPr>
        <p:blipFill>
          <a:blip r:embed="rId5"/>
          <a:stretch>
            <a:fillRect/>
          </a:stretch>
        </p:blipFill>
        <p:spPr>
          <a:xfrm>
            <a:off x="981766" y="1083589"/>
            <a:ext cx="4160505" cy="3308781"/>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Content Placeholder 19" descr="A screenshot of a black screen&#10;&#10;Description automatically generated">
            <a:extLst>
              <a:ext uri="{FF2B5EF4-FFF2-40B4-BE49-F238E27FC236}">
                <a16:creationId xmlns:a16="http://schemas.microsoft.com/office/drawing/2014/main" id="{3A460C8F-AB68-E93C-1824-9C9D2FC8DF49}"/>
              </a:ext>
            </a:extLst>
          </p:cNvPr>
          <p:cNvPicPr>
            <a:picLocks noGrp="1" noChangeAspect="1"/>
          </p:cNvPicPr>
          <p:nvPr>
            <p:ph sz="half" idx="1"/>
          </p:nvPr>
        </p:nvPicPr>
        <p:blipFill>
          <a:blip r:embed="rId6"/>
          <a:stretch>
            <a:fillRect/>
          </a:stretch>
        </p:blipFill>
        <p:spPr>
          <a:xfrm>
            <a:off x="981766" y="4914947"/>
            <a:ext cx="10807111" cy="1755247"/>
          </a:xfrm>
          <a:prstGeom prst="rect">
            <a:avLst/>
          </a:prstGeom>
          <a:ln>
            <a:noFill/>
          </a:ln>
          <a:effectLst>
            <a:outerShdw blurRad="50800" dist="38100" dir="2700000" algn="tl" rotWithShape="0">
              <a:prstClr val="black">
                <a:alpha val="40000"/>
              </a:prstClr>
            </a:outerShdw>
          </a:effectLst>
        </p:spPr>
      </p:pic>
      <p:pic>
        <p:nvPicPr>
          <p:cNvPr id="5" name="Content Placeholder 4" descr="A graph of a number of fraud&#10;&#10;Description automatically generated">
            <a:extLst>
              <a:ext uri="{FF2B5EF4-FFF2-40B4-BE49-F238E27FC236}">
                <a16:creationId xmlns:a16="http://schemas.microsoft.com/office/drawing/2014/main" id="{C4E7532F-6F15-CF4A-7F90-CEA696A0B52E}"/>
              </a:ext>
            </a:extLst>
          </p:cNvPr>
          <p:cNvPicPr>
            <a:picLocks noGrp="1" noChangeAspect="1"/>
          </p:cNvPicPr>
          <p:nvPr>
            <p:ph sz="half" idx="2"/>
          </p:nvPr>
        </p:nvPicPr>
        <p:blipFill>
          <a:blip r:embed="rId7"/>
          <a:stretch>
            <a:fillRect/>
          </a:stretch>
        </p:blipFill>
        <p:spPr>
          <a:xfrm>
            <a:off x="5751349" y="1082916"/>
            <a:ext cx="6037528" cy="3310128"/>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90D00238-D9F1-E1CD-E792-696C8BAEDAF6}"/>
              </a:ext>
            </a:extLst>
          </p:cNvPr>
          <p:cNvSpPr txBox="1"/>
          <p:nvPr/>
        </p:nvSpPr>
        <p:spPr>
          <a:xfrm>
            <a:off x="981766" y="4573556"/>
            <a:ext cx="4327653" cy="369332"/>
          </a:xfrm>
          <a:prstGeom prst="rect">
            <a:avLst/>
          </a:prstGeom>
          <a:noFill/>
        </p:spPr>
        <p:txBody>
          <a:bodyPr wrap="square" rtlCol="0">
            <a:spAutoFit/>
          </a:bodyPr>
          <a:lstStyle/>
          <a:p>
            <a:r>
              <a:rPr lang="en-US"/>
              <a:t>Summary Statistics</a:t>
            </a:r>
          </a:p>
        </p:txBody>
      </p:sp>
    </p:spTree>
    <p:extLst>
      <p:ext uri="{BB962C8B-B14F-4D97-AF65-F5344CB8AC3E}">
        <p14:creationId xmlns:p14="http://schemas.microsoft.com/office/powerpoint/2010/main" val="2829781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5D97-6AFE-760E-4669-F5230EB36529}"/>
              </a:ext>
            </a:extLst>
          </p:cNvPr>
          <p:cNvSpPr>
            <a:spLocks noGrp="1"/>
          </p:cNvSpPr>
          <p:nvPr>
            <p:ph type="title"/>
          </p:nvPr>
        </p:nvSpPr>
        <p:spPr>
          <a:xfrm>
            <a:off x="839788" y="261144"/>
            <a:ext cx="3932237" cy="766763"/>
          </a:xfrm>
        </p:spPr>
        <p:txBody>
          <a:bodyPr>
            <a:normAutofit/>
          </a:bodyPr>
          <a:lstStyle/>
          <a:p>
            <a:r>
              <a:rPr lang="en-US" sz="3200" b="0">
                <a:latin typeface="+mj-lt"/>
              </a:rPr>
              <a:t>Methods</a:t>
            </a:r>
          </a:p>
        </p:txBody>
      </p:sp>
      <p:pic>
        <p:nvPicPr>
          <p:cNvPr id="5" name="Content Placeholder 4" descr="A screenshot of a graph&#10;&#10;Description automatically generated">
            <a:extLst>
              <a:ext uri="{FF2B5EF4-FFF2-40B4-BE49-F238E27FC236}">
                <a16:creationId xmlns:a16="http://schemas.microsoft.com/office/drawing/2014/main" id="{1987898B-B2E9-523B-C44B-CBF60EECEA3C}"/>
              </a:ext>
            </a:extLst>
          </p:cNvPr>
          <p:cNvPicPr>
            <a:picLocks noGrp="1" noChangeAspect="1"/>
          </p:cNvPicPr>
          <p:nvPr>
            <p:ph idx="1"/>
          </p:nvPr>
        </p:nvPicPr>
        <p:blipFill>
          <a:blip r:embed="rId3"/>
          <a:stretch>
            <a:fillRect/>
          </a:stretch>
        </p:blipFill>
        <p:spPr>
          <a:xfrm>
            <a:off x="6549625" y="257057"/>
            <a:ext cx="4957928" cy="6219031"/>
          </a:xfrm>
          <a:prstGeom prst="rect">
            <a:avLst/>
          </a:prstGeom>
          <a:ln>
            <a:noFill/>
          </a:ln>
          <a:effectLst>
            <a:outerShdw blurRad="292100" dist="139700" dir="2700000" algn="tl" rotWithShape="0">
              <a:srgbClr val="333333">
                <a:alpha val="65000"/>
              </a:srgbClr>
            </a:outerShdw>
          </a:effectLst>
        </p:spPr>
      </p:pic>
      <p:sp>
        <p:nvSpPr>
          <p:cNvPr id="4" name="Text Placeholder 3">
            <a:extLst>
              <a:ext uri="{FF2B5EF4-FFF2-40B4-BE49-F238E27FC236}">
                <a16:creationId xmlns:a16="http://schemas.microsoft.com/office/drawing/2014/main" id="{77F55C87-9E7B-7F88-F108-4ED4B14C8CC3}"/>
              </a:ext>
            </a:extLst>
          </p:cNvPr>
          <p:cNvSpPr>
            <a:spLocks noGrp="1"/>
          </p:cNvSpPr>
          <p:nvPr>
            <p:ph type="body" sz="half" idx="2"/>
          </p:nvPr>
        </p:nvSpPr>
        <p:spPr>
          <a:xfrm>
            <a:off x="589757" y="933450"/>
            <a:ext cx="4754655" cy="3127376"/>
          </a:xfrm>
        </p:spPr>
        <p:txBody>
          <a:bodyPr vert="horz" lIns="91440" tIns="45720" rIns="91440" bIns="45720" rtlCol="0" anchor="t">
            <a:normAutofit/>
          </a:bodyPr>
          <a:lstStyle/>
          <a:p>
            <a:pPr marL="285750" indent="-285750">
              <a:buChar char="•"/>
            </a:pPr>
            <a:r>
              <a:rPr lang="en-US" sz="1800"/>
              <a:t>Determine x variables we want to keep</a:t>
            </a:r>
          </a:p>
          <a:p>
            <a:pPr marL="285750" indent="-285750">
              <a:buChar char="•"/>
            </a:pPr>
            <a:r>
              <a:rPr lang="en-US" sz="1800"/>
              <a:t>Run multiple models against the data to find the best performing model</a:t>
            </a:r>
          </a:p>
          <a:p>
            <a:pPr marL="285750" indent="-285750">
              <a:buChar char="•"/>
            </a:pPr>
            <a:r>
              <a:rPr lang="en-US" sz="1800"/>
              <a:t>Train and test against the best performing model</a:t>
            </a:r>
          </a:p>
        </p:txBody>
      </p:sp>
      <p:pic>
        <p:nvPicPr>
          <p:cNvPr id="6" name="Picture 5" descr="A table of numbers with text&#10;&#10;Description automatically generated">
            <a:extLst>
              <a:ext uri="{FF2B5EF4-FFF2-40B4-BE49-F238E27FC236}">
                <a16:creationId xmlns:a16="http://schemas.microsoft.com/office/drawing/2014/main" id="{B00F6061-96EB-AF7A-9B1D-04ACEFD793D6}"/>
              </a:ext>
            </a:extLst>
          </p:cNvPr>
          <p:cNvPicPr>
            <a:picLocks noChangeAspect="1"/>
          </p:cNvPicPr>
          <p:nvPr/>
        </p:nvPicPr>
        <p:blipFill>
          <a:blip r:embed="rId4"/>
          <a:stretch>
            <a:fillRect/>
          </a:stretch>
        </p:blipFill>
        <p:spPr>
          <a:xfrm>
            <a:off x="400406" y="3833564"/>
            <a:ext cx="5867400" cy="11001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0888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F102-0101-EBD9-00D9-B132BCE31AD2}"/>
              </a:ext>
            </a:extLst>
          </p:cNvPr>
          <p:cNvSpPr>
            <a:spLocks noGrp="1"/>
          </p:cNvSpPr>
          <p:nvPr>
            <p:ph type="title"/>
          </p:nvPr>
        </p:nvSpPr>
        <p:spPr>
          <a:xfrm>
            <a:off x="808661" y="365125"/>
            <a:ext cx="10357666" cy="746519"/>
          </a:xfrm>
        </p:spPr>
        <p:txBody>
          <a:bodyPr/>
          <a:lstStyle/>
          <a:p>
            <a:r>
              <a:rPr lang="en-US"/>
              <a:t>results</a:t>
            </a:r>
          </a:p>
        </p:txBody>
      </p:sp>
      <p:sp>
        <p:nvSpPr>
          <p:cNvPr id="3" name="Content Placeholder 2">
            <a:extLst>
              <a:ext uri="{FF2B5EF4-FFF2-40B4-BE49-F238E27FC236}">
                <a16:creationId xmlns:a16="http://schemas.microsoft.com/office/drawing/2014/main" id="{515B5A1F-1D2C-85A2-1299-59D3AA6EA524}"/>
              </a:ext>
            </a:extLst>
          </p:cNvPr>
          <p:cNvSpPr>
            <a:spLocks noGrp="1"/>
          </p:cNvSpPr>
          <p:nvPr>
            <p:ph sz="half" idx="1"/>
          </p:nvPr>
        </p:nvSpPr>
        <p:spPr>
          <a:xfrm>
            <a:off x="672838" y="1350351"/>
            <a:ext cx="4995019" cy="4157663"/>
          </a:xfrm>
        </p:spPr>
        <p:txBody>
          <a:bodyPr vert="horz" lIns="91440" tIns="45720" rIns="91440" bIns="45720" rtlCol="0" anchor="t">
            <a:noAutofit/>
          </a:bodyPr>
          <a:lstStyle/>
          <a:p>
            <a:r>
              <a:rPr lang="en-US" sz="1800"/>
              <a:t>In the table to the right you can see that there are 298 incidents where the prediction aligned with the actual Fraud.</a:t>
            </a:r>
          </a:p>
          <a:p>
            <a:r>
              <a:rPr lang="en-US" sz="1800"/>
              <a:t>There are 34 cases of predicted Fraud that ended up being not Fraud.</a:t>
            </a:r>
          </a:p>
          <a:p>
            <a:r>
              <a:rPr lang="en-US" sz="1800"/>
              <a:t>There are 1322 cases of Fraud that the model predicted as not Fraud.</a:t>
            </a:r>
          </a:p>
          <a:p>
            <a:r>
              <a:rPr lang="en-US" sz="1800"/>
              <a:t>The benefit of using this method is capturing 298 cases real time versus after post analysis. With model refinement the bias toward false positives can reduce the number of false negatives.</a:t>
            </a:r>
          </a:p>
        </p:txBody>
      </p:sp>
      <p:pic>
        <p:nvPicPr>
          <p:cNvPr id="6" name="Content Placeholder 5">
            <a:extLst>
              <a:ext uri="{FF2B5EF4-FFF2-40B4-BE49-F238E27FC236}">
                <a16:creationId xmlns:a16="http://schemas.microsoft.com/office/drawing/2014/main" id="{AC167CA6-2AD9-C1DF-32AA-5E33896DD72A}"/>
              </a:ext>
            </a:extLst>
          </p:cNvPr>
          <p:cNvPicPr>
            <a:picLocks noGrp="1" noChangeAspect="1"/>
          </p:cNvPicPr>
          <p:nvPr>
            <p:ph sz="half" idx="2"/>
          </p:nvPr>
        </p:nvPicPr>
        <p:blipFill>
          <a:blip r:embed="rId3"/>
          <a:stretch>
            <a:fillRect/>
          </a:stretch>
        </p:blipFill>
        <p:spPr>
          <a:xfrm>
            <a:off x="6288178" y="1598885"/>
            <a:ext cx="4881377" cy="415766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1661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AB6E-37EF-A72F-4639-EB35EB6880C1}"/>
              </a:ext>
            </a:extLst>
          </p:cNvPr>
          <p:cNvSpPr>
            <a:spLocks noGrp="1"/>
          </p:cNvSpPr>
          <p:nvPr>
            <p:ph type="title"/>
          </p:nvPr>
        </p:nvSpPr>
        <p:spPr/>
        <p:txBody>
          <a:bodyPr/>
          <a:lstStyle/>
          <a:p>
            <a:r>
              <a:rPr lang="en-US"/>
              <a:t>Discussion</a:t>
            </a:r>
          </a:p>
        </p:txBody>
      </p:sp>
      <p:sp>
        <p:nvSpPr>
          <p:cNvPr id="3" name="Text Placeholder 2">
            <a:extLst>
              <a:ext uri="{FF2B5EF4-FFF2-40B4-BE49-F238E27FC236}">
                <a16:creationId xmlns:a16="http://schemas.microsoft.com/office/drawing/2014/main" id="{2CFA4357-5BD3-3DB0-A5D5-BAD3732FBAE1}"/>
              </a:ext>
            </a:extLst>
          </p:cNvPr>
          <p:cNvSpPr>
            <a:spLocks noGrp="1"/>
          </p:cNvSpPr>
          <p:nvPr>
            <p:ph type="body" idx="1"/>
          </p:nvPr>
        </p:nvSpPr>
        <p:spPr/>
        <p:txBody>
          <a:bodyPr/>
          <a:lstStyle/>
          <a:p>
            <a:r>
              <a:rPr lang="en-US"/>
              <a:t>Successes</a:t>
            </a:r>
          </a:p>
        </p:txBody>
      </p:sp>
      <p:sp>
        <p:nvSpPr>
          <p:cNvPr id="4" name="Content Placeholder 3">
            <a:extLst>
              <a:ext uri="{FF2B5EF4-FFF2-40B4-BE49-F238E27FC236}">
                <a16:creationId xmlns:a16="http://schemas.microsoft.com/office/drawing/2014/main" id="{341F55DD-FFFC-44A4-CFC2-C714F93C240C}"/>
              </a:ext>
            </a:extLst>
          </p:cNvPr>
          <p:cNvSpPr>
            <a:spLocks noGrp="1"/>
          </p:cNvSpPr>
          <p:nvPr>
            <p:ph sz="half" idx="2"/>
          </p:nvPr>
        </p:nvSpPr>
        <p:spPr>
          <a:xfrm>
            <a:off x="800101" y="2694007"/>
            <a:ext cx="5007894" cy="3495656"/>
          </a:xfrm>
        </p:spPr>
        <p:txBody>
          <a:bodyPr>
            <a:normAutofit/>
          </a:bodyPr>
          <a:lstStyle/>
          <a:p>
            <a:r>
              <a:rPr lang="en-US" sz="1800"/>
              <a:t>Provided better results that solely flagging transactions above $200,000. This would provide a higher success rate for flagging fraud. </a:t>
            </a:r>
          </a:p>
        </p:txBody>
      </p:sp>
      <p:sp>
        <p:nvSpPr>
          <p:cNvPr id="5" name="Text Placeholder 4">
            <a:extLst>
              <a:ext uri="{FF2B5EF4-FFF2-40B4-BE49-F238E27FC236}">
                <a16:creationId xmlns:a16="http://schemas.microsoft.com/office/drawing/2014/main" id="{15E1FDB1-7FE8-2CAF-3250-8FD9F3D3CACE}"/>
              </a:ext>
            </a:extLst>
          </p:cNvPr>
          <p:cNvSpPr>
            <a:spLocks noGrp="1"/>
          </p:cNvSpPr>
          <p:nvPr>
            <p:ph type="body" sz="quarter" idx="3"/>
          </p:nvPr>
        </p:nvSpPr>
        <p:spPr/>
        <p:txBody>
          <a:bodyPr/>
          <a:lstStyle/>
          <a:p>
            <a:r>
              <a:rPr lang="en-US"/>
              <a:t>Opportunities</a:t>
            </a:r>
          </a:p>
        </p:txBody>
      </p:sp>
      <p:sp>
        <p:nvSpPr>
          <p:cNvPr id="6" name="Content Placeholder 5">
            <a:extLst>
              <a:ext uri="{FF2B5EF4-FFF2-40B4-BE49-F238E27FC236}">
                <a16:creationId xmlns:a16="http://schemas.microsoft.com/office/drawing/2014/main" id="{2B0C178A-3B59-3404-D5F2-BB3B379C2182}"/>
              </a:ext>
            </a:extLst>
          </p:cNvPr>
          <p:cNvSpPr>
            <a:spLocks noGrp="1"/>
          </p:cNvSpPr>
          <p:nvPr>
            <p:ph sz="quarter" idx="4"/>
          </p:nvPr>
        </p:nvSpPr>
        <p:spPr>
          <a:xfrm>
            <a:off x="6276061" y="2694005"/>
            <a:ext cx="4994128" cy="3495657"/>
          </a:xfrm>
        </p:spPr>
        <p:txBody>
          <a:bodyPr>
            <a:normAutofit/>
          </a:bodyPr>
          <a:lstStyle/>
          <a:p>
            <a:r>
              <a:rPr lang="en-US" sz="1800"/>
              <a:t>Adds flagging transactions that are not fraud as fraud. This could add additional customer frustration.</a:t>
            </a:r>
          </a:p>
        </p:txBody>
      </p:sp>
      <p:pic>
        <p:nvPicPr>
          <p:cNvPr id="8" name="Graphic 7" descr="Checkmark with solid fill">
            <a:extLst>
              <a:ext uri="{FF2B5EF4-FFF2-40B4-BE49-F238E27FC236}">
                <a16:creationId xmlns:a16="http://schemas.microsoft.com/office/drawing/2014/main" id="{9CF8E80E-F644-0903-4EAC-C99A54317A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6888" y="2032000"/>
            <a:ext cx="560459" cy="560459"/>
          </a:xfrm>
          <a:prstGeom prst="rect">
            <a:avLst/>
          </a:prstGeom>
        </p:spPr>
      </p:pic>
      <p:pic>
        <p:nvPicPr>
          <p:cNvPr id="9" name="Graphic 8" descr="Badge Cross with solid fill">
            <a:extLst>
              <a:ext uri="{FF2B5EF4-FFF2-40B4-BE49-F238E27FC236}">
                <a16:creationId xmlns:a16="http://schemas.microsoft.com/office/drawing/2014/main" id="{FB820CF6-879E-B989-DC25-C1DFBD2433F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565059" y="1944615"/>
            <a:ext cx="560459" cy="560459"/>
          </a:xfrm>
          <a:prstGeom prst="rect">
            <a:avLst/>
          </a:prstGeom>
        </p:spPr>
      </p:pic>
      <p:grpSp>
        <p:nvGrpSpPr>
          <p:cNvPr id="14" name="Group 13">
            <a:extLst>
              <a:ext uri="{FF2B5EF4-FFF2-40B4-BE49-F238E27FC236}">
                <a16:creationId xmlns:a16="http://schemas.microsoft.com/office/drawing/2014/main" id="{4AC0D1DF-3679-5440-FB7D-D865DF656C54}"/>
              </a:ext>
            </a:extLst>
          </p:cNvPr>
          <p:cNvGrpSpPr/>
          <p:nvPr/>
        </p:nvGrpSpPr>
        <p:grpSpPr>
          <a:xfrm>
            <a:off x="5056888" y="1950173"/>
            <a:ext cx="6068630" cy="647844"/>
            <a:chOff x="5056888" y="1950173"/>
            <a:chExt cx="6068630" cy="647844"/>
          </a:xfrm>
        </p:grpSpPr>
        <p:pic>
          <p:nvPicPr>
            <p:cNvPr id="12" name="Graphic 11" descr="Checkmark with solid fill">
              <a:extLst>
                <a:ext uri="{FF2B5EF4-FFF2-40B4-BE49-F238E27FC236}">
                  <a16:creationId xmlns:a16="http://schemas.microsoft.com/office/drawing/2014/main" id="{4B8C652F-11B9-1231-1D5C-34E981606E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6888" y="2037558"/>
              <a:ext cx="560459" cy="560459"/>
            </a:xfrm>
            <a:prstGeom prst="rect">
              <a:avLst/>
            </a:prstGeom>
          </p:spPr>
        </p:pic>
        <p:pic>
          <p:nvPicPr>
            <p:cNvPr id="13" name="Graphic 12" descr="Badge Cross with solid fill">
              <a:extLst>
                <a:ext uri="{FF2B5EF4-FFF2-40B4-BE49-F238E27FC236}">
                  <a16:creationId xmlns:a16="http://schemas.microsoft.com/office/drawing/2014/main" id="{DA09B36E-CE16-5F8E-1BF5-3764F25D085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565059" y="1950173"/>
              <a:ext cx="560459" cy="560459"/>
            </a:xfrm>
            <a:prstGeom prst="rect">
              <a:avLst/>
            </a:prstGeom>
          </p:spPr>
        </p:pic>
      </p:grpSp>
    </p:spTree>
    <p:extLst>
      <p:ext uri="{BB962C8B-B14F-4D97-AF65-F5344CB8AC3E}">
        <p14:creationId xmlns:p14="http://schemas.microsoft.com/office/powerpoint/2010/main" val="964773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D4E6F-07BE-6A62-11BB-CAFD521DC462}"/>
              </a:ext>
            </a:extLst>
          </p:cNvPr>
          <p:cNvSpPr>
            <a:spLocks noGrp="1"/>
          </p:cNvSpPr>
          <p:nvPr>
            <p:ph type="title"/>
          </p:nvPr>
        </p:nvSpPr>
        <p:spPr>
          <a:xfrm>
            <a:off x="814340" y="319689"/>
            <a:ext cx="10357666" cy="1438450"/>
          </a:xfrm>
        </p:spPr>
        <p:txBody>
          <a:bodyPr/>
          <a:lstStyle/>
          <a:p>
            <a:r>
              <a:rPr lang="en-US"/>
              <a:t>Limitations and Future Work</a:t>
            </a:r>
          </a:p>
        </p:txBody>
      </p:sp>
      <p:graphicFrame>
        <p:nvGraphicFramePr>
          <p:cNvPr id="4" name="Content Placeholder 2">
            <a:extLst>
              <a:ext uri="{FF2B5EF4-FFF2-40B4-BE49-F238E27FC236}">
                <a16:creationId xmlns:a16="http://schemas.microsoft.com/office/drawing/2014/main" id="{E49AD89D-61CE-1592-A9ED-AB4987B4B13E}"/>
              </a:ext>
            </a:extLst>
          </p:cNvPr>
          <p:cNvGraphicFramePr>
            <a:graphicFrameLocks noGrp="1"/>
          </p:cNvGraphicFramePr>
          <p:nvPr>
            <p:ph idx="1"/>
            <p:extLst>
              <p:ext uri="{D42A27DB-BD31-4B8C-83A1-F6EECF244321}">
                <p14:modId xmlns:p14="http://schemas.microsoft.com/office/powerpoint/2010/main" val="153429356"/>
              </p:ext>
            </p:extLst>
          </p:nvPr>
        </p:nvGraphicFramePr>
        <p:xfrm>
          <a:off x="587829" y="1675133"/>
          <a:ext cx="10512791" cy="43659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a:extLst>
              <a:ext uri="{FF2B5EF4-FFF2-40B4-BE49-F238E27FC236}">
                <a16:creationId xmlns:a16="http://schemas.microsoft.com/office/drawing/2014/main" id="{0096B733-B7A1-5D59-A784-C9862968E907}"/>
              </a:ext>
            </a:extLst>
          </p:cNvPr>
          <p:cNvGrpSpPr/>
          <p:nvPr/>
        </p:nvGrpSpPr>
        <p:grpSpPr>
          <a:xfrm>
            <a:off x="2334905" y="3164703"/>
            <a:ext cx="9107715" cy="3074326"/>
            <a:chOff x="2380341" y="3428999"/>
            <a:chExt cx="9107715" cy="3074326"/>
          </a:xfrm>
        </p:grpSpPr>
        <p:sp>
          <p:nvSpPr>
            <p:cNvPr id="5" name="TextBox 4">
              <a:extLst>
                <a:ext uri="{FF2B5EF4-FFF2-40B4-BE49-F238E27FC236}">
                  <a16:creationId xmlns:a16="http://schemas.microsoft.com/office/drawing/2014/main" id="{44FA1D53-A2F4-10C1-C6CB-8B21153F2C6D}"/>
                </a:ext>
              </a:extLst>
            </p:cNvPr>
            <p:cNvSpPr txBox="1"/>
            <p:nvPr/>
          </p:nvSpPr>
          <p:spPr>
            <a:xfrm>
              <a:off x="2380342" y="3429000"/>
              <a:ext cx="3853543" cy="923330"/>
            </a:xfrm>
            <a:prstGeom prst="rect">
              <a:avLst/>
            </a:prstGeom>
            <a:noFill/>
          </p:spPr>
          <p:txBody>
            <a:bodyPr wrap="square" rtlCol="0">
              <a:spAutoFit/>
            </a:bodyPr>
            <a:lstStyle/>
            <a:p>
              <a:r>
                <a:rPr lang="en-US"/>
                <a:t>Limited Data Features, may not get the same data in a real-world setting</a:t>
              </a:r>
            </a:p>
          </p:txBody>
        </p:sp>
        <p:sp>
          <p:nvSpPr>
            <p:cNvPr id="6" name="TextBox 5">
              <a:extLst>
                <a:ext uri="{FF2B5EF4-FFF2-40B4-BE49-F238E27FC236}">
                  <a16:creationId xmlns:a16="http://schemas.microsoft.com/office/drawing/2014/main" id="{724377F4-A746-0642-5111-D6130DFD8456}"/>
                </a:ext>
              </a:extLst>
            </p:cNvPr>
            <p:cNvSpPr txBox="1"/>
            <p:nvPr/>
          </p:nvSpPr>
          <p:spPr>
            <a:xfrm>
              <a:off x="7634513" y="3428999"/>
              <a:ext cx="3853543" cy="1200329"/>
            </a:xfrm>
            <a:prstGeom prst="rect">
              <a:avLst/>
            </a:prstGeom>
            <a:noFill/>
          </p:spPr>
          <p:txBody>
            <a:bodyPr wrap="square" rtlCol="0">
              <a:spAutoFit/>
            </a:bodyPr>
            <a:lstStyle/>
            <a:p>
              <a:r>
                <a:rPr lang="en-US"/>
                <a:t>Analysis could benefit from different methods and additional columns including locations, customers, and transaction history.</a:t>
              </a:r>
            </a:p>
          </p:txBody>
        </p:sp>
        <p:sp>
          <p:nvSpPr>
            <p:cNvPr id="7" name="TextBox 6">
              <a:extLst>
                <a:ext uri="{FF2B5EF4-FFF2-40B4-BE49-F238E27FC236}">
                  <a16:creationId xmlns:a16="http://schemas.microsoft.com/office/drawing/2014/main" id="{4F443216-D0F3-0765-B847-7030EEAFEDC3}"/>
                </a:ext>
              </a:extLst>
            </p:cNvPr>
            <p:cNvSpPr txBox="1"/>
            <p:nvPr/>
          </p:nvSpPr>
          <p:spPr>
            <a:xfrm>
              <a:off x="2380341" y="5302996"/>
              <a:ext cx="3853543" cy="1200329"/>
            </a:xfrm>
            <a:prstGeom prst="rect">
              <a:avLst/>
            </a:prstGeom>
            <a:noFill/>
          </p:spPr>
          <p:txBody>
            <a:bodyPr wrap="square" rtlCol="0">
              <a:spAutoFit/>
            </a:bodyPr>
            <a:lstStyle/>
            <a:p>
              <a:r>
                <a:rPr lang="en-US"/>
                <a:t>The ability to track emerging fraud trends or patterns based on new data may help the model maintain or improve accuracy levels.</a:t>
              </a:r>
            </a:p>
          </p:txBody>
        </p:sp>
        <p:sp>
          <p:nvSpPr>
            <p:cNvPr id="8" name="TextBox 7">
              <a:extLst>
                <a:ext uri="{FF2B5EF4-FFF2-40B4-BE49-F238E27FC236}">
                  <a16:creationId xmlns:a16="http://schemas.microsoft.com/office/drawing/2014/main" id="{56701205-008D-A2B3-638D-953DB634E1CD}"/>
                </a:ext>
              </a:extLst>
            </p:cNvPr>
            <p:cNvSpPr txBox="1"/>
            <p:nvPr/>
          </p:nvSpPr>
          <p:spPr>
            <a:xfrm>
              <a:off x="7634512" y="5355413"/>
              <a:ext cx="3853543" cy="923330"/>
            </a:xfrm>
            <a:prstGeom prst="rect">
              <a:avLst/>
            </a:prstGeom>
            <a:noFill/>
          </p:spPr>
          <p:txBody>
            <a:bodyPr wrap="square" rtlCol="0">
              <a:spAutoFit/>
            </a:bodyPr>
            <a:lstStyle/>
            <a:p>
              <a:r>
                <a:rPr lang="en-US"/>
                <a:t>Fraud flagging should be reviewed to see if the model imposes bias with flagging.</a:t>
              </a:r>
            </a:p>
          </p:txBody>
        </p:sp>
      </p:grpSp>
    </p:spTree>
    <p:extLst>
      <p:ext uri="{BB962C8B-B14F-4D97-AF65-F5344CB8AC3E}">
        <p14:creationId xmlns:p14="http://schemas.microsoft.com/office/powerpoint/2010/main" val="1296706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4A2D17-8B58-490B-19C5-075AB3F07A11}"/>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stack of bank cards">
            <a:extLst>
              <a:ext uri="{FF2B5EF4-FFF2-40B4-BE49-F238E27FC236}">
                <a16:creationId xmlns:a16="http://schemas.microsoft.com/office/drawing/2014/main" id="{55D589D2-7B50-2F5F-5169-268DEE8EA333}"/>
              </a:ext>
            </a:extLst>
          </p:cNvPr>
          <p:cNvPicPr>
            <a:picLocks noChangeAspect="1"/>
          </p:cNvPicPr>
          <p:nvPr/>
        </p:nvPicPr>
        <p:blipFill>
          <a:blip r:embed="rId3">
            <a:alphaModFix/>
          </a:blip>
          <a:srcRect t="5617" b="10427"/>
          <a:stretch/>
        </p:blipFill>
        <p:spPr>
          <a:xfrm>
            <a:off x="20" y="10"/>
            <a:ext cx="12191979" cy="6857989"/>
          </a:xfrm>
          <a:prstGeom prst="rect">
            <a:avLst/>
          </a:prstGeom>
        </p:spPr>
      </p:pic>
      <p:sp>
        <p:nvSpPr>
          <p:cNvPr id="47" name="Freeform: Shape 46">
            <a:extLst>
              <a:ext uri="{FF2B5EF4-FFF2-40B4-BE49-F238E27FC236}">
                <a16:creationId xmlns:a16="http://schemas.microsoft.com/office/drawing/2014/main" id="{50220E3B-B61B-7FE6-8157-FEE84BBD0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22853" cy="6858000"/>
          </a:xfrm>
          <a:custGeom>
            <a:avLst/>
            <a:gdLst>
              <a:gd name="connsiteX0" fmla="*/ 2192785 w 2192785"/>
              <a:gd name="connsiteY0" fmla="*/ 3807381 h 3807381"/>
              <a:gd name="connsiteX1" fmla="*/ 0 w 2192785"/>
              <a:gd name="connsiteY1" fmla="*/ 3807381 h 3807381"/>
              <a:gd name="connsiteX2" fmla="*/ 0 w 2192785"/>
              <a:gd name="connsiteY2" fmla="*/ 0 h 3807381"/>
              <a:gd name="connsiteX3" fmla="*/ 2192785 w 2192785"/>
              <a:gd name="connsiteY3" fmla="*/ 0 h 3807381"/>
            </a:gdLst>
            <a:ahLst/>
            <a:cxnLst>
              <a:cxn ang="0">
                <a:pos x="connsiteX0" y="connsiteY0"/>
              </a:cxn>
              <a:cxn ang="0">
                <a:pos x="connsiteX1" y="connsiteY1"/>
              </a:cxn>
              <a:cxn ang="0">
                <a:pos x="connsiteX2" y="connsiteY2"/>
              </a:cxn>
              <a:cxn ang="0">
                <a:pos x="connsiteX3" y="connsiteY3"/>
              </a:cxn>
            </a:cxnLst>
            <a:rect l="l" t="t" r="r" b="b"/>
            <a:pathLst>
              <a:path w="2192785" h="3807381">
                <a:moveTo>
                  <a:pt x="2192785" y="3807381"/>
                </a:moveTo>
                <a:lnTo>
                  <a:pt x="0" y="3807381"/>
                </a:lnTo>
                <a:lnTo>
                  <a:pt x="0" y="0"/>
                </a:lnTo>
                <a:lnTo>
                  <a:pt x="2192785" y="0"/>
                </a:lnTo>
                <a:close/>
              </a:path>
            </a:pathLst>
          </a:custGeom>
          <a:gradFill>
            <a:gsLst>
              <a:gs pos="0">
                <a:srgbClr val="000000">
                  <a:alpha val="0"/>
                </a:srgbClr>
              </a:gs>
              <a:gs pos="95000">
                <a:srgbClr val="00000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DFFC05A-DADF-96DF-3492-31BCAEB38680}"/>
              </a:ext>
            </a:extLst>
          </p:cNvPr>
          <p:cNvSpPr>
            <a:spLocks noGrp="1"/>
          </p:cNvSpPr>
          <p:nvPr>
            <p:ph type="ctrTitle"/>
          </p:nvPr>
        </p:nvSpPr>
        <p:spPr>
          <a:xfrm>
            <a:off x="807027" y="1261872"/>
            <a:ext cx="5622528" cy="2852928"/>
          </a:xfrm>
        </p:spPr>
        <p:txBody>
          <a:bodyPr anchor="t">
            <a:normAutofit/>
          </a:bodyPr>
          <a:lstStyle/>
          <a:p>
            <a:r>
              <a:rPr lang="en-US">
                <a:solidFill>
                  <a:srgbClr val="FFFFFF"/>
                </a:solidFill>
              </a:rPr>
              <a:t>Questions? </a:t>
            </a:r>
          </a:p>
        </p:txBody>
      </p:sp>
      <p:sp>
        <p:nvSpPr>
          <p:cNvPr id="3" name="Subtitle 2">
            <a:extLst>
              <a:ext uri="{FF2B5EF4-FFF2-40B4-BE49-F238E27FC236}">
                <a16:creationId xmlns:a16="http://schemas.microsoft.com/office/drawing/2014/main" id="{BD2FFC9A-84D1-58DB-1A16-E8B47D2BF016}"/>
              </a:ext>
            </a:extLst>
          </p:cNvPr>
          <p:cNvSpPr>
            <a:spLocks noGrp="1"/>
          </p:cNvSpPr>
          <p:nvPr>
            <p:ph type="subTitle" idx="1"/>
          </p:nvPr>
        </p:nvSpPr>
        <p:spPr>
          <a:xfrm>
            <a:off x="807027" y="4681727"/>
            <a:ext cx="5530513" cy="1276249"/>
          </a:xfrm>
        </p:spPr>
        <p:txBody>
          <a:bodyPr>
            <a:normAutofit/>
          </a:bodyPr>
          <a:lstStyle/>
          <a:p>
            <a:r>
              <a:rPr lang="en-US">
                <a:solidFill>
                  <a:srgbClr val="FFFFFF"/>
                </a:solidFill>
              </a:rPr>
              <a:t>Thank you</a:t>
            </a:r>
          </a:p>
        </p:txBody>
      </p:sp>
      <p:sp>
        <p:nvSpPr>
          <p:cNvPr id="49" name="Freeform: Shape 48">
            <a:extLst>
              <a:ext uri="{FF2B5EF4-FFF2-40B4-BE49-F238E27FC236}">
                <a16:creationId xmlns:a16="http://schemas.microsoft.com/office/drawing/2014/main" id="{2FA801D1-B067-4DAE-708F-7C47567C2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995139" y="0"/>
            <a:ext cx="2196859" cy="6858000"/>
          </a:xfrm>
          <a:custGeom>
            <a:avLst/>
            <a:gdLst>
              <a:gd name="connsiteX0" fmla="*/ 2192785 w 2192785"/>
              <a:gd name="connsiteY0" fmla="*/ 3807381 h 3807381"/>
              <a:gd name="connsiteX1" fmla="*/ 0 w 2192785"/>
              <a:gd name="connsiteY1" fmla="*/ 3807381 h 3807381"/>
              <a:gd name="connsiteX2" fmla="*/ 0 w 2192785"/>
              <a:gd name="connsiteY2" fmla="*/ 0 h 3807381"/>
              <a:gd name="connsiteX3" fmla="*/ 2192785 w 2192785"/>
              <a:gd name="connsiteY3" fmla="*/ 0 h 3807381"/>
            </a:gdLst>
            <a:ahLst/>
            <a:cxnLst>
              <a:cxn ang="0">
                <a:pos x="connsiteX0" y="connsiteY0"/>
              </a:cxn>
              <a:cxn ang="0">
                <a:pos x="connsiteX1" y="connsiteY1"/>
              </a:cxn>
              <a:cxn ang="0">
                <a:pos x="connsiteX2" y="connsiteY2"/>
              </a:cxn>
              <a:cxn ang="0">
                <a:pos x="connsiteX3" y="connsiteY3"/>
              </a:cxn>
            </a:cxnLst>
            <a:rect l="l" t="t" r="r" b="b"/>
            <a:pathLst>
              <a:path w="2192785" h="3807381">
                <a:moveTo>
                  <a:pt x="2192785" y="3807381"/>
                </a:moveTo>
                <a:lnTo>
                  <a:pt x="0" y="3807381"/>
                </a:lnTo>
                <a:lnTo>
                  <a:pt x="0" y="0"/>
                </a:lnTo>
                <a:lnTo>
                  <a:pt x="2192785" y="0"/>
                </a:lnTo>
                <a:close/>
              </a:path>
            </a:pathLst>
          </a:custGeom>
          <a:gradFill>
            <a:gsLst>
              <a:gs pos="0">
                <a:srgbClr val="000000">
                  <a:alpha val="0"/>
                </a:srgbClr>
              </a:gs>
              <a:gs pos="100000">
                <a:srgbClr val="000000">
                  <a:alpha val="31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Rectangle 50">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563125" y="3424422"/>
            <a:ext cx="642729" cy="2930667"/>
          </a:xfrm>
          <a:prstGeom prst="rect">
            <a:avLst/>
          </a:prstGeom>
          <a:blipFill dpi="0" rotWithShape="1">
            <a:blip r:embed="rId4">
              <a:alphaModFix amt="99000"/>
              <a:extLst>
                <a:ext uri="{96DAC541-7B7A-43D3-8B79-37D633B846F1}">
                  <asvg:svgBlip xmlns:asvg="http://schemas.microsoft.com/office/drawing/2016/SVG/main" r:embed="rId5"/>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1985992" y="483669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2BB9D5D5-BEE8-238E-2F25-FEC7FF7D2AA7}"/>
              </a:ext>
            </a:extLst>
          </p:cNvPr>
          <p:cNvSpPr txBox="1">
            <a:spLocks/>
          </p:cNvSpPr>
          <p:nvPr/>
        </p:nvSpPr>
        <p:spPr>
          <a:xfrm>
            <a:off x="807027" y="5925633"/>
            <a:ext cx="6902550" cy="929296"/>
          </a:xfrm>
          <a:prstGeom prst="rect">
            <a:avLst/>
          </a:prstGeom>
        </p:spPr>
        <p:txBody>
          <a:bodyPr vert="horz" lIns="91440" tIns="45720" rIns="91440" bIns="45720" rtlCol="0">
            <a:normAutofit/>
          </a:bodyPr>
          <a:lstStyle>
            <a:lvl1pPr marL="0" indent="0" algn="l" defTabSz="914400" rtl="0" eaLnBrk="1" latinLnBrk="0" hangingPunct="1">
              <a:lnSpc>
                <a:spcPct val="130000"/>
              </a:lnSpc>
              <a:spcBef>
                <a:spcPts val="1000"/>
              </a:spcBef>
              <a:buSzPct val="85000"/>
              <a:buFont typeface="Arial" panose="020B0604020202020204" pitchFamily="34" charset="0"/>
              <a:buNone/>
              <a:defRPr sz="1600" b="1" kern="1200" cap="all" spc="600" baseline="0">
                <a:solidFill>
                  <a:schemeClr val="tx1"/>
                </a:solidFill>
                <a:latin typeface="+mn-lt"/>
                <a:ea typeface="+mn-ea"/>
                <a:cs typeface="+mn-cs"/>
              </a:defRPr>
            </a:lvl1pPr>
            <a:lvl2pPr marL="457200" indent="0" algn="ctr" defTabSz="914400" rtl="0" eaLnBrk="1" latinLnBrk="0" hangingPunct="1">
              <a:lnSpc>
                <a:spcPct val="130000"/>
              </a:lnSpc>
              <a:spcBef>
                <a:spcPts val="500"/>
              </a:spcBef>
              <a:buSzPct val="100000"/>
              <a:buFont typeface="Avenir Next LT Pro Light" panose="020B03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30000"/>
              </a:lnSpc>
              <a:spcBef>
                <a:spcPts val="500"/>
              </a:spcBef>
              <a:buSzPct val="8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30000"/>
              </a:lnSpc>
              <a:spcBef>
                <a:spcPts val="500"/>
              </a:spcBef>
              <a:buSzPct val="100000"/>
              <a:buFont typeface="Avenir Next LT Pro Light" panose="020B03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30000"/>
              </a:lnSpc>
              <a:spcBef>
                <a:spcPts val="500"/>
              </a:spcBef>
              <a:buSzPct val="8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a:solidFill>
                  <a:srgbClr val="FFFFFF"/>
                </a:solidFill>
              </a:rPr>
              <a:t>IST 707 Group Presentation </a:t>
            </a:r>
          </a:p>
          <a:p>
            <a:r>
              <a:rPr lang="en-US" sz="1000" err="1">
                <a:solidFill>
                  <a:srgbClr val="FFFFFF"/>
                </a:solidFill>
              </a:rPr>
              <a:t>Remp</a:t>
            </a:r>
            <a:r>
              <a:rPr lang="en-US" sz="1000">
                <a:solidFill>
                  <a:srgbClr val="FFFFFF"/>
                </a:solidFill>
              </a:rPr>
              <a:t> | </a:t>
            </a:r>
            <a:r>
              <a:rPr lang="en-US" sz="1000" err="1">
                <a:solidFill>
                  <a:srgbClr val="FFFFFF"/>
                </a:solidFill>
              </a:rPr>
              <a:t>Forkert</a:t>
            </a:r>
            <a:r>
              <a:rPr lang="en-US" sz="1000">
                <a:solidFill>
                  <a:srgbClr val="FFFFFF"/>
                </a:solidFill>
              </a:rPr>
              <a:t> | Haase </a:t>
            </a:r>
          </a:p>
        </p:txBody>
      </p:sp>
    </p:spTree>
    <p:extLst>
      <p:ext uri="{BB962C8B-B14F-4D97-AF65-F5344CB8AC3E}">
        <p14:creationId xmlns:p14="http://schemas.microsoft.com/office/powerpoint/2010/main" val="200652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eniceBeachVTI">
  <a:themeElements>
    <a:clrScheme name="Venice Beach">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532AFDDAEC2C438F8F1EB1776ACD2A" ma:contentTypeVersion="13" ma:contentTypeDescription="Create a new document." ma:contentTypeScope="" ma:versionID="8240a898e528ee747ba111811595891f">
  <xsd:schema xmlns:xsd="http://www.w3.org/2001/XMLSchema" xmlns:xs="http://www.w3.org/2001/XMLSchema" xmlns:p="http://schemas.microsoft.com/office/2006/metadata/properties" xmlns:ns3="a30b4e47-fbbb-4f80-91d2-075575c92965" xmlns:ns4="0426dc24-33de-4616-802b-0de0a7928bbe" targetNamespace="http://schemas.microsoft.com/office/2006/metadata/properties" ma:root="true" ma:fieldsID="e4d6a18cdafce1cbd1ca0c10767812d9" ns3:_="" ns4:_="">
    <xsd:import namespace="a30b4e47-fbbb-4f80-91d2-075575c92965"/>
    <xsd:import namespace="0426dc24-33de-4616-802b-0de0a7928bbe"/>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0b4e47-fbbb-4f80-91d2-075575c92965"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426dc24-33de-4616-802b-0de0a7928bbe"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30b4e47-fbbb-4f80-91d2-075575c92965" xsi:nil="true"/>
  </documentManagement>
</p:properties>
</file>

<file path=customXml/itemProps1.xml><?xml version="1.0" encoding="utf-8"?>
<ds:datastoreItem xmlns:ds="http://schemas.openxmlformats.org/officeDocument/2006/customXml" ds:itemID="{CEB17FDE-00F9-4DAD-BE6A-F2B73E6C0261}">
  <ds:schemaRefs>
    <ds:schemaRef ds:uri="0426dc24-33de-4616-802b-0de0a7928bbe"/>
    <ds:schemaRef ds:uri="a30b4e47-fbbb-4f80-91d2-075575c929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223234E-5456-4271-B39A-D13D6EFF9F1B}">
  <ds:schemaRefs>
    <ds:schemaRef ds:uri="http://schemas.microsoft.com/sharepoint/v3/contenttype/forms"/>
  </ds:schemaRefs>
</ds:datastoreItem>
</file>

<file path=customXml/itemProps3.xml><?xml version="1.0" encoding="utf-8"?>
<ds:datastoreItem xmlns:ds="http://schemas.openxmlformats.org/officeDocument/2006/customXml" ds:itemID="{16FB1D5B-CA4B-4F93-B850-2BFC01C4AA32}">
  <ds:schemaRefs>
    <ds:schemaRef ds:uri="http://purl.org/dc/dcmitype/"/>
    <ds:schemaRef ds:uri="http://purl.org/dc/terms/"/>
    <ds:schemaRef ds:uri="http://purl.org/dc/elements/1.1/"/>
    <ds:schemaRef ds:uri="0426dc24-33de-4616-802b-0de0a7928bbe"/>
    <ds:schemaRef ds:uri="http://schemas.microsoft.com/office/2006/documentManagement/types"/>
    <ds:schemaRef ds:uri="a30b4e47-fbbb-4f80-91d2-075575c92965"/>
    <ds:schemaRef ds:uri="http://www.w3.org/XML/1998/namespace"/>
    <ds:schemaRef ds:uri="http://schemas.openxmlformats.org/package/2006/metadata/core-properti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561</TotalTime>
  <Words>791</Words>
  <Application>Microsoft Office PowerPoint</Application>
  <PresentationFormat>Widescreen</PresentationFormat>
  <Paragraphs>97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Avenir Next LT Pro</vt:lpstr>
      <vt:lpstr>Avenir Next LT Pro Light</vt:lpstr>
      <vt:lpstr>Times New Roman</vt:lpstr>
      <vt:lpstr>VeniceBeachVTI</vt:lpstr>
      <vt:lpstr>Financial Fraud Prediction</vt:lpstr>
      <vt:lpstr>Introduction</vt:lpstr>
      <vt:lpstr>Data</vt:lpstr>
      <vt:lpstr>Data Breakdown</vt:lpstr>
      <vt:lpstr>Methods</vt:lpstr>
      <vt:lpstr>results</vt:lpstr>
      <vt:lpstr>Discussion</vt:lpstr>
      <vt:lpstr>Limitations and Future Work</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Erika Haase</dc:creator>
  <cp:lastModifiedBy>Justin Forkert</cp:lastModifiedBy>
  <cp:revision>2</cp:revision>
  <dcterms:created xsi:type="dcterms:W3CDTF">2024-11-27T01:58:31Z</dcterms:created>
  <dcterms:modified xsi:type="dcterms:W3CDTF">2025-12-10T15:02:54Z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0x01010092532AFDDAEC2C438F8F1EB1776ACD2A</vt:lpwstr>
  </property>
</Properties>
</file>